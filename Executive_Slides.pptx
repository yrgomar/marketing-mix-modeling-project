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5029200" y="457200"/>
            <a:ext cx="4114800" cy="4114800"/>
          </a:xfrm>
          <a:prstGeom prst="rect">
            <a:avLst/>
          </a:prstGeom>
          <a:noFill/>
          <a:ln/>
        </p:spPr>
        <p:txBody>
          <a:bodyPr wrap="square" rtlCol="0" anchor="ctr"/>
          <a:lstStyle/>
          <a:p>
            <a:pPr algn="r" indent="0" marL="0">
              <a:buNone/>
            </a:pPr>
            <a:r>
              <a:rPr lang="en-US" sz="16000" b="1" dirty="0">
                <a:solidFill>
                  <a:srgbClr val="FFFFFF">
                    <a:alpha val="8000"/>
                  </a:srgbClr>
                </a:solidFill>
                <a:latin typeface="Arial Black" pitchFamily="34" charset="0"/>
                <a:ea typeface="Arial Black" pitchFamily="34" charset="-122"/>
                <a:cs typeface="Arial Black" pitchFamily="34" charset="-120"/>
              </a:rPr>
              <a:t>MMM</a:t>
            </a:r>
            <a:endParaRPr lang="en-US" sz="16000" dirty="0"/>
          </a:p>
        </p:txBody>
      </p:sp>
      <p:sp>
        <p:nvSpPr>
          <p:cNvPr id="4" name="Text 2"/>
          <p:cNvSpPr/>
          <p:nvPr/>
        </p:nvSpPr>
        <p:spPr>
          <a:xfrm>
            <a:off x="640080" y="1097280"/>
            <a:ext cx="6400800" cy="9144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Marketing Mix Model</a:t>
            </a:r>
            <a:endParaRPr lang="en-US" sz="4000" dirty="0"/>
          </a:p>
        </p:txBody>
      </p:sp>
      <p:sp>
        <p:nvSpPr>
          <p:cNvPr id="5" name="Text 3"/>
          <p:cNvSpPr/>
          <p:nvPr/>
        </p:nvSpPr>
        <p:spPr>
          <a:xfrm>
            <a:off x="640080" y="1965960"/>
            <a:ext cx="6400800" cy="548640"/>
          </a:xfrm>
          <a:prstGeom prst="rect">
            <a:avLst/>
          </a:prstGeom>
          <a:noFill/>
          <a:ln/>
        </p:spPr>
        <p:txBody>
          <a:bodyPr wrap="square" lIns="0" tIns="0" rIns="0" bIns="0" rtlCol="0" anchor="ctr"/>
          <a:lstStyle/>
          <a:p>
            <a:pPr indent="0" marL="0">
              <a:buNone/>
            </a:pPr>
            <a:r>
              <a:rPr lang="en-US" sz="2200" dirty="0">
                <a:solidFill>
                  <a:srgbClr val="0EA5E9"/>
                </a:solidFill>
                <a:latin typeface="Calibri Light" pitchFamily="34" charset="0"/>
                <a:ea typeface="Calibri Light" pitchFamily="34" charset="-122"/>
                <a:cs typeface="Calibri Light" pitchFamily="34" charset="-120"/>
              </a:rPr>
              <a:t>Data-Driven Budget Optimization</a:t>
            </a:r>
            <a:endParaRPr lang="en-US" sz="2200" dirty="0"/>
          </a:p>
        </p:txBody>
      </p:sp>
      <p:sp>
        <p:nvSpPr>
          <p:cNvPr id="6" name="Shape 4"/>
          <p:cNvSpPr/>
          <p:nvPr/>
        </p:nvSpPr>
        <p:spPr>
          <a:xfrm>
            <a:off x="640080" y="2743200"/>
            <a:ext cx="2286000" cy="0"/>
          </a:xfrm>
          <a:prstGeom prst="line">
            <a:avLst/>
          </a:prstGeom>
          <a:noFill/>
          <a:ln w="25400">
            <a:solidFill>
              <a:srgbClr val="0EA5E9"/>
            </a:solidFill>
            <a:prstDash val="solid"/>
          </a:ln>
        </p:spPr>
      </p:sp>
      <p:sp>
        <p:nvSpPr>
          <p:cNvPr id="7" name="Text 5"/>
          <p:cNvSpPr/>
          <p:nvPr/>
        </p:nvSpPr>
        <p:spPr>
          <a:xfrm>
            <a:off x="640080" y="3017520"/>
            <a:ext cx="4572000" cy="10972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Omar Oudrari</a:t>
            </a:r>
            <a:endParaRPr lang="en-US" sz="1400" dirty="0"/>
          </a:p>
          <a:p>
            <a:pPr indent="0" marL="0">
              <a:buNone/>
            </a:pPr>
            <a:r>
              <a:rPr lang="en-US" sz="1200" dirty="0">
                <a:solidFill>
                  <a:srgbClr val="94A3B8"/>
                </a:solidFill>
                <a:latin typeface="Calibri" pitchFamily="34" charset="0"/>
                <a:ea typeface="Calibri" pitchFamily="34" charset="-122"/>
                <a:cs typeface="Calibri" pitchFamily="34" charset="-120"/>
              </a:rPr>
              <a:t>March 2026</a:t>
            </a:r>
            <a:endParaRPr lang="en-US" sz="1400" dirty="0"/>
          </a:p>
          <a:p>
            <a:pPr indent="0" marL="0">
              <a:buNone/>
            </a:pPr>
            <a:r>
              <a:rPr lang="en-US" sz="1200" dirty="0">
                <a:solidFill>
                  <a:srgbClr val="94A3B8"/>
                </a:solidFill>
                <a:latin typeface="Calibri" pitchFamily="34" charset="0"/>
                <a:ea typeface="Calibri" pitchFamily="34" charset="-122"/>
                <a:cs typeface="Calibri" pitchFamily="34" charset="-120"/>
              </a:rPr>
              <a:t>Executive Leadership Team</a:t>
            </a:r>
            <a:endParaRPr lang="en-US" sz="1400" dirty="0"/>
          </a:p>
        </p:txBody>
      </p:sp>
      <p:sp>
        <p:nvSpPr>
          <p:cNvPr id="8" name="Text 6"/>
          <p:cNvSpPr/>
          <p:nvPr/>
        </p:nvSpPr>
        <p:spPr>
          <a:xfrm>
            <a:off x="457200" y="4709160"/>
            <a:ext cx="8229600" cy="320040"/>
          </a:xfrm>
          <a:prstGeom prst="rect">
            <a:avLst/>
          </a:prstGeom>
          <a:noFill/>
          <a:ln/>
        </p:spPr>
        <p:txBody>
          <a:bodyPr wrap="square" rtlCol="0" anchor="ctr"/>
          <a:lstStyle/>
          <a:p>
            <a:pPr algn="l" indent="0" marL="0">
              <a:buNone/>
            </a:pPr>
            <a:r>
              <a:rPr lang="en-US" sz="800" spc="200" kern="0" dirty="0">
                <a:solidFill>
                  <a:srgbClr val="94A3B8"/>
                </a:solidFill>
                <a:latin typeface="Calibri" pitchFamily="34" charset="0"/>
                <a:ea typeface="Calibri" pitchFamily="34" charset="-122"/>
                <a:cs typeface="Calibri" pitchFamily="34" charset="-120"/>
              </a:rPr>
              <a:t>CONFIDENTIAL  |  FOR INTERNAL USE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THE PROBLEM</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 / 10</a:t>
            </a:r>
            <a:endParaRPr lang="en-US" sz="900" dirty="0"/>
          </a:p>
        </p:txBody>
      </p:sp>
      <p:sp>
        <p:nvSpPr>
          <p:cNvPr id="5" name="Text 3"/>
          <p:cNvSpPr/>
          <p:nvPr/>
        </p:nvSpPr>
        <p:spPr>
          <a:xfrm>
            <a:off x="457200" y="731520"/>
            <a:ext cx="8229600" cy="82296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We Spend $4.5M/Year Across 5 Channels —</a:t>
            </a:r>
            <a:endParaRPr lang="en-US" sz="2200" dirty="0"/>
          </a:p>
          <a:p>
            <a:pPr indent="0" marL="0">
              <a:buNone/>
            </a:pPr>
            <a:r>
              <a:rPr lang="en-US" sz="2200" b="1" dirty="0">
                <a:solidFill>
                  <a:srgbClr val="1E293B"/>
                </a:solidFill>
                <a:latin typeface="Calibri" pitchFamily="34" charset="0"/>
                <a:ea typeface="Calibri" pitchFamily="34" charset="-122"/>
                <a:cs typeface="Calibri" pitchFamily="34" charset="-120"/>
              </a:rPr>
              <a:t>But Don't Know What's Working</a:t>
            </a:r>
            <a:endParaRPr lang="en-US" sz="2200" dirty="0"/>
          </a:p>
        </p:txBody>
      </p:sp>
      <p:sp>
        <p:nvSpPr>
          <p:cNvPr id="6" name="Shape 4"/>
          <p:cNvSpPr/>
          <p:nvPr/>
        </p:nvSpPr>
        <p:spPr>
          <a:xfrm>
            <a:off x="548640" y="1783080"/>
            <a:ext cx="2560320" cy="2651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1417320" y="1965960"/>
            <a:ext cx="640080" cy="640080"/>
          </a:xfrm>
          <a:prstGeom prst="ellipse">
            <a:avLst/>
          </a:prstGeom>
          <a:solidFill>
            <a:srgbClr val="EF4444"/>
          </a:solidFill>
          <a:ln/>
        </p:spPr>
      </p:sp>
      <p:pic>
        <p:nvPicPr>
          <p:cNvPr id="8" name="Image 0" descr="preencoded.png">    </p:cNvPr>
          <p:cNvPicPr>
            <a:picLocks noChangeAspect="1"/>
          </p:cNvPicPr>
          <p:nvPr/>
        </p:nvPicPr>
        <p:blipFill>
          <a:blip r:embed="rId1"/>
          <a:stretch>
            <a:fillRect/>
          </a:stretch>
        </p:blipFill>
        <p:spPr>
          <a:xfrm>
            <a:off x="1554480" y="2103120"/>
            <a:ext cx="365760" cy="365760"/>
          </a:xfrm>
          <a:prstGeom prst="rect">
            <a:avLst/>
          </a:prstGeom>
        </p:spPr>
      </p:pic>
      <p:sp>
        <p:nvSpPr>
          <p:cNvPr id="9" name="Text 6"/>
          <p:cNvSpPr/>
          <p:nvPr/>
        </p:nvSpPr>
        <p:spPr>
          <a:xfrm>
            <a:off x="685800" y="2743200"/>
            <a:ext cx="228600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No Attribution</a:t>
            </a:r>
            <a:endParaRPr lang="en-US" sz="1400" dirty="0"/>
          </a:p>
        </p:txBody>
      </p:sp>
      <p:sp>
        <p:nvSpPr>
          <p:cNvPr id="10" name="Text 7"/>
          <p:cNvSpPr/>
          <p:nvPr/>
        </p:nvSpPr>
        <p:spPr>
          <a:xfrm>
            <a:off x="685800" y="3108960"/>
            <a:ext cx="2286000" cy="1188720"/>
          </a:xfrm>
          <a:prstGeom prst="rect">
            <a:avLst/>
          </a:prstGeom>
          <a:noFill/>
          <a:ln/>
        </p:spPr>
        <p:txBody>
          <a:bodyPr wrap="square" lIns="0" tIns="0" rIns="0" bIns="0" rtlCol="0" anchor="ctr"/>
          <a:lstStyle/>
          <a:p>
            <a:pPr algn="ctr" indent="0" marL="0">
              <a:lnSpc>
                <a:spcPct val="120000"/>
              </a:lnSpc>
              <a:buNone/>
            </a:pPr>
            <a:r>
              <a:rPr lang="en-US" sz="1050" dirty="0">
                <a:solidFill>
                  <a:srgbClr val="475569"/>
                </a:solidFill>
                <a:latin typeface="Calibri" pitchFamily="34" charset="0"/>
                <a:ea typeface="Calibri" pitchFamily="34" charset="-122"/>
                <a:cs typeface="Calibri" pitchFamily="34" charset="-120"/>
              </a:rPr>
              <a:t>Cannot determine which channels actually drive revenue vs. merely correlate with it.</a:t>
            </a:r>
            <a:endParaRPr lang="en-US" sz="1050" dirty="0"/>
          </a:p>
        </p:txBody>
      </p:sp>
      <p:sp>
        <p:nvSpPr>
          <p:cNvPr id="11" name="Shape 8"/>
          <p:cNvSpPr/>
          <p:nvPr/>
        </p:nvSpPr>
        <p:spPr>
          <a:xfrm>
            <a:off x="3383280" y="1783080"/>
            <a:ext cx="2560320" cy="2651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9"/>
          <p:cNvSpPr/>
          <p:nvPr/>
        </p:nvSpPr>
        <p:spPr>
          <a:xfrm>
            <a:off x="4251960" y="1965960"/>
            <a:ext cx="640080" cy="640080"/>
          </a:xfrm>
          <a:prstGeom prst="ellipse">
            <a:avLst/>
          </a:prstGeom>
          <a:solidFill>
            <a:srgbClr val="F59E0B"/>
          </a:solidFill>
          <a:ln/>
        </p:spPr>
      </p:sp>
      <p:pic>
        <p:nvPicPr>
          <p:cNvPr id="13" name="Image 1" descr="preencoded.png">    </p:cNvPr>
          <p:cNvPicPr>
            <a:picLocks noChangeAspect="1"/>
          </p:cNvPicPr>
          <p:nvPr/>
        </p:nvPicPr>
        <p:blipFill>
          <a:blip r:embed="rId2"/>
          <a:stretch>
            <a:fillRect/>
          </a:stretch>
        </p:blipFill>
        <p:spPr>
          <a:xfrm>
            <a:off x="4389120" y="2103120"/>
            <a:ext cx="365760" cy="365760"/>
          </a:xfrm>
          <a:prstGeom prst="rect">
            <a:avLst/>
          </a:prstGeom>
        </p:spPr>
      </p:pic>
      <p:sp>
        <p:nvSpPr>
          <p:cNvPr id="14" name="Text 10"/>
          <p:cNvSpPr/>
          <p:nvPr/>
        </p:nvSpPr>
        <p:spPr>
          <a:xfrm>
            <a:off x="3520440" y="2743200"/>
            <a:ext cx="228600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Budget Waste</a:t>
            </a:r>
            <a:endParaRPr lang="en-US" sz="1400" dirty="0"/>
          </a:p>
        </p:txBody>
      </p:sp>
      <p:sp>
        <p:nvSpPr>
          <p:cNvPr id="15" name="Text 11"/>
          <p:cNvSpPr/>
          <p:nvPr/>
        </p:nvSpPr>
        <p:spPr>
          <a:xfrm>
            <a:off x="3520440" y="3108960"/>
            <a:ext cx="2286000" cy="1188720"/>
          </a:xfrm>
          <a:prstGeom prst="rect">
            <a:avLst/>
          </a:prstGeom>
          <a:noFill/>
          <a:ln/>
        </p:spPr>
        <p:txBody>
          <a:bodyPr wrap="square" lIns="0" tIns="0" rIns="0" bIns="0" rtlCol="0" anchor="ctr"/>
          <a:lstStyle/>
          <a:p>
            <a:pPr algn="ctr" indent="0" marL="0">
              <a:lnSpc>
                <a:spcPct val="120000"/>
              </a:lnSpc>
              <a:buNone/>
            </a:pPr>
            <a:r>
              <a:rPr lang="en-US" sz="1050" dirty="0">
                <a:solidFill>
                  <a:srgbClr val="475569"/>
                </a:solidFill>
                <a:latin typeface="Calibri" pitchFamily="34" charset="0"/>
                <a:ea typeface="Calibri" pitchFamily="34" charset="-122"/>
                <a:cs typeface="Calibri" pitchFamily="34" charset="-120"/>
              </a:rPr>
              <a:t>TV gets 44% of spend but delivers the lowest ROI at 0.55x. Estimated misallocation costs $635K+/year.</a:t>
            </a:r>
            <a:endParaRPr lang="en-US" sz="1050" dirty="0"/>
          </a:p>
        </p:txBody>
      </p:sp>
      <p:sp>
        <p:nvSpPr>
          <p:cNvPr id="16" name="Shape 12"/>
          <p:cNvSpPr/>
          <p:nvPr/>
        </p:nvSpPr>
        <p:spPr>
          <a:xfrm>
            <a:off x="6217920" y="1783080"/>
            <a:ext cx="2560320" cy="26517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7" name="Shape 13"/>
          <p:cNvSpPr/>
          <p:nvPr/>
        </p:nvSpPr>
        <p:spPr>
          <a:xfrm>
            <a:off x="7086600" y="1965960"/>
            <a:ext cx="640080" cy="640080"/>
          </a:xfrm>
          <a:prstGeom prst="ellipse">
            <a:avLst/>
          </a:prstGeom>
          <a:solidFill>
            <a:srgbClr val="065A82"/>
          </a:solidFill>
          <a:ln/>
        </p:spPr>
      </p:sp>
      <p:pic>
        <p:nvPicPr>
          <p:cNvPr id="18" name="Image 2" descr="preencoded.png">    </p:cNvPr>
          <p:cNvPicPr>
            <a:picLocks noChangeAspect="1"/>
          </p:cNvPicPr>
          <p:nvPr/>
        </p:nvPicPr>
        <p:blipFill>
          <a:blip r:embed="rId3"/>
          <a:stretch>
            <a:fillRect/>
          </a:stretch>
        </p:blipFill>
        <p:spPr>
          <a:xfrm>
            <a:off x="7223760" y="2103120"/>
            <a:ext cx="365760" cy="365760"/>
          </a:xfrm>
          <a:prstGeom prst="rect">
            <a:avLst/>
          </a:prstGeom>
        </p:spPr>
      </p:pic>
      <p:sp>
        <p:nvSpPr>
          <p:cNvPr id="19" name="Text 14"/>
          <p:cNvSpPr/>
          <p:nvPr/>
        </p:nvSpPr>
        <p:spPr>
          <a:xfrm>
            <a:off x="6355080" y="2743200"/>
            <a:ext cx="228600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Missed Revenue</a:t>
            </a:r>
            <a:endParaRPr lang="en-US" sz="1400" dirty="0"/>
          </a:p>
        </p:txBody>
      </p:sp>
      <p:sp>
        <p:nvSpPr>
          <p:cNvPr id="20" name="Text 15"/>
          <p:cNvSpPr/>
          <p:nvPr/>
        </p:nvSpPr>
        <p:spPr>
          <a:xfrm>
            <a:off x="6355080" y="3108960"/>
            <a:ext cx="2286000" cy="1188720"/>
          </a:xfrm>
          <a:prstGeom prst="rect">
            <a:avLst/>
          </a:prstGeom>
          <a:noFill/>
          <a:ln/>
        </p:spPr>
        <p:txBody>
          <a:bodyPr wrap="square" lIns="0" tIns="0" rIns="0" bIns="0" rtlCol="0" anchor="ctr"/>
          <a:lstStyle/>
          <a:p>
            <a:pPr algn="ctr" indent="0" marL="0">
              <a:lnSpc>
                <a:spcPct val="120000"/>
              </a:lnSpc>
              <a:buNone/>
            </a:pPr>
            <a:r>
              <a:rPr lang="en-US" sz="1050" dirty="0">
                <a:solidFill>
                  <a:srgbClr val="475569"/>
                </a:solidFill>
                <a:latin typeface="Calibri" pitchFamily="34" charset="0"/>
                <a:ea typeface="Calibri" pitchFamily="34" charset="-122"/>
                <a:cs typeface="Calibri" pitchFamily="34" charset="-120"/>
              </a:rPr>
              <a:t>Under-investment in high-ROI channels (Email at 7.48x, Display at 2.34x) leaves money on the table.</a:t>
            </a:r>
            <a:endParaRPr lang="en-US" sz="1050" dirty="0"/>
          </a:p>
        </p:txBody>
      </p:sp>
      <p:sp>
        <p:nvSpPr>
          <p:cNvPr id="21" name="Shape 16"/>
          <p:cNvSpPr/>
          <p:nvPr/>
        </p:nvSpPr>
        <p:spPr>
          <a:xfrm>
            <a:off x="548640" y="4572000"/>
            <a:ext cx="8046720" cy="384048"/>
          </a:xfrm>
          <a:prstGeom prst="rect">
            <a:avLst/>
          </a:prstGeom>
          <a:solidFill>
            <a:srgbClr val="1A2942"/>
          </a:solidFill>
          <a:ln/>
        </p:spPr>
      </p:sp>
      <p:sp>
        <p:nvSpPr>
          <p:cNvPr id="22" name="Text 17"/>
          <p:cNvSpPr/>
          <p:nvPr/>
        </p:nvSpPr>
        <p:spPr>
          <a:xfrm>
            <a:off x="548640" y="4572000"/>
            <a:ext cx="804672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Bottom Line: Without a model, budget decisions rely on intuition — not evidence.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METHODOLOGY</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3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A Rigorous 5-Step Modeling Pipeline</a:t>
            </a:r>
            <a:endParaRPr lang="en-US" sz="2200" dirty="0"/>
          </a:p>
        </p:txBody>
      </p:sp>
      <p:sp>
        <p:nvSpPr>
          <p:cNvPr id="6" name="Shape 4"/>
          <p:cNvSpPr/>
          <p:nvPr/>
        </p:nvSpPr>
        <p:spPr>
          <a:xfrm>
            <a:off x="594360" y="1463040"/>
            <a:ext cx="594360" cy="594360"/>
          </a:xfrm>
          <a:prstGeom prst="ellipse">
            <a:avLst/>
          </a:prstGeom>
          <a:solidFill>
            <a:srgbClr val="1A2942"/>
          </a:solidFill>
          <a:ln/>
        </p:spPr>
      </p:sp>
      <p:sp>
        <p:nvSpPr>
          <p:cNvPr id="7" name="Text 5"/>
          <p:cNvSpPr/>
          <p:nvPr/>
        </p:nvSpPr>
        <p:spPr>
          <a:xfrm>
            <a:off x="594360" y="14630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Shape 6"/>
          <p:cNvSpPr/>
          <p:nvPr/>
        </p:nvSpPr>
        <p:spPr>
          <a:xfrm>
            <a:off x="1325880" y="1755648"/>
            <a:ext cx="594360" cy="0"/>
          </a:xfrm>
          <a:prstGeom prst="line">
            <a:avLst/>
          </a:prstGeom>
          <a:noFill/>
          <a:ln w="19050">
            <a:solidFill>
              <a:srgbClr val="94A3B8"/>
            </a:solidFill>
            <a:prstDash val="dash"/>
          </a:ln>
        </p:spPr>
      </p:sp>
      <p:sp>
        <p:nvSpPr>
          <p:cNvPr id="9" name="Text 7"/>
          <p:cNvSpPr/>
          <p:nvPr/>
        </p:nvSpPr>
        <p:spPr>
          <a:xfrm>
            <a:off x="320040" y="2240280"/>
            <a:ext cx="1143000" cy="594360"/>
          </a:xfrm>
          <a:prstGeom prst="rect">
            <a:avLst/>
          </a:prstGeom>
          <a:noFill/>
          <a:ln/>
        </p:spPr>
        <p:txBody>
          <a:bodyPr wrap="square" lIns="0" tIns="0" rIns="0" bIns="0" rtlCol="0" anchor="ctr"/>
          <a:lstStyle/>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Raw Spend</a:t>
            </a:r>
            <a:endParaRPr lang="en-US" sz="1100" dirty="0"/>
          </a:p>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Data</a:t>
            </a:r>
            <a:endParaRPr lang="en-US" sz="1100" dirty="0"/>
          </a:p>
        </p:txBody>
      </p:sp>
      <p:sp>
        <p:nvSpPr>
          <p:cNvPr id="10" name="Text 8"/>
          <p:cNvSpPr/>
          <p:nvPr/>
        </p:nvSpPr>
        <p:spPr>
          <a:xfrm>
            <a:off x="320040" y="2834640"/>
            <a:ext cx="1143000" cy="502920"/>
          </a:xfrm>
          <a:prstGeom prst="rect">
            <a:avLst/>
          </a:prstGeom>
          <a:noFill/>
          <a:ln/>
        </p:spPr>
        <p:txBody>
          <a:bodyPr wrap="square" lIns="0" tIns="0" rIns="0" bIns="0" rtlCol="0" anchor="ctr"/>
          <a:lstStyle/>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Weekly channel</a:t>
            </a:r>
            <a:endParaRPr lang="en-US" sz="900" dirty="0"/>
          </a:p>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investment data</a:t>
            </a:r>
            <a:endParaRPr lang="en-US" sz="900" dirty="0"/>
          </a:p>
        </p:txBody>
      </p:sp>
      <p:sp>
        <p:nvSpPr>
          <p:cNvPr id="11" name="Shape 9"/>
          <p:cNvSpPr/>
          <p:nvPr/>
        </p:nvSpPr>
        <p:spPr>
          <a:xfrm>
            <a:off x="2331720" y="1463040"/>
            <a:ext cx="594360" cy="594360"/>
          </a:xfrm>
          <a:prstGeom prst="ellipse">
            <a:avLst/>
          </a:prstGeom>
          <a:solidFill>
            <a:srgbClr val="1A2942"/>
          </a:solidFill>
          <a:ln/>
        </p:spPr>
      </p:sp>
      <p:sp>
        <p:nvSpPr>
          <p:cNvPr id="12" name="Text 10"/>
          <p:cNvSpPr/>
          <p:nvPr/>
        </p:nvSpPr>
        <p:spPr>
          <a:xfrm>
            <a:off x="2331720" y="14630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3" name="Shape 11"/>
          <p:cNvSpPr/>
          <p:nvPr/>
        </p:nvSpPr>
        <p:spPr>
          <a:xfrm>
            <a:off x="3063240" y="1755648"/>
            <a:ext cx="594360" cy="0"/>
          </a:xfrm>
          <a:prstGeom prst="line">
            <a:avLst/>
          </a:prstGeom>
          <a:noFill/>
          <a:ln w="19050">
            <a:solidFill>
              <a:srgbClr val="94A3B8"/>
            </a:solidFill>
            <a:prstDash val="dash"/>
          </a:ln>
        </p:spPr>
      </p:sp>
      <p:sp>
        <p:nvSpPr>
          <p:cNvPr id="14" name="Text 12"/>
          <p:cNvSpPr/>
          <p:nvPr/>
        </p:nvSpPr>
        <p:spPr>
          <a:xfrm>
            <a:off x="2057400" y="2240280"/>
            <a:ext cx="1143000" cy="594360"/>
          </a:xfrm>
          <a:prstGeom prst="rect">
            <a:avLst/>
          </a:prstGeom>
          <a:noFill/>
          <a:ln/>
        </p:spPr>
        <p:txBody>
          <a:bodyPr wrap="square" lIns="0" tIns="0" rIns="0" bIns="0" rtlCol="0" anchor="ctr"/>
          <a:lstStyle/>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Adstock</a:t>
            </a:r>
            <a:endParaRPr lang="en-US" sz="1100" dirty="0"/>
          </a:p>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Transform</a:t>
            </a:r>
            <a:endParaRPr lang="en-US" sz="1100" dirty="0"/>
          </a:p>
        </p:txBody>
      </p:sp>
      <p:sp>
        <p:nvSpPr>
          <p:cNvPr id="15" name="Text 13"/>
          <p:cNvSpPr/>
          <p:nvPr/>
        </p:nvSpPr>
        <p:spPr>
          <a:xfrm>
            <a:off x="2057400" y="2834640"/>
            <a:ext cx="1143000" cy="502920"/>
          </a:xfrm>
          <a:prstGeom prst="rect">
            <a:avLst/>
          </a:prstGeom>
          <a:noFill/>
          <a:ln/>
        </p:spPr>
        <p:txBody>
          <a:bodyPr wrap="square" lIns="0" tIns="0" rIns="0" bIns="0" rtlCol="0" anchor="ctr"/>
          <a:lstStyle/>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Geometric decay</a:t>
            </a:r>
            <a:endParaRPr lang="en-US" sz="900" dirty="0"/>
          </a:p>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for carryover</a:t>
            </a:r>
            <a:endParaRPr lang="en-US" sz="900" dirty="0"/>
          </a:p>
        </p:txBody>
      </p:sp>
      <p:sp>
        <p:nvSpPr>
          <p:cNvPr id="16" name="Shape 14"/>
          <p:cNvSpPr/>
          <p:nvPr/>
        </p:nvSpPr>
        <p:spPr>
          <a:xfrm>
            <a:off x="4069080" y="1463040"/>
            <a:ext cx="594360" cy="594360"/>
          </a:xfrm>
          <a:prstGeom prst="ellipse">
            <a:avLst/>
          </a:prstGeom>
          <a:solidFill>
            <a:srgbClr val="1A2942"/>
          </a:solidFill>
          <a:ln/>
        </p:spPr>
      </p:sp>
      <p:sp>
        <p:nvSpPr>
          <p:cNvPr id="17" name="Text 15"/>
          <p:cNvSpPr/>
          <p:nvPr/>
        </p:nvSpPr>
        <p:spPr>
          <a:xfrm>
            <a:off x="4069080" y="14630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Shape 16"/>
          <p:cNvSpPr/>
          <p:nvPr/>
        </p:nvSpPr>
        <p:spPr>
          <a:xfrm>
            <a:off x="4800600" y="1755648"/>
            <a:ext cx="594360" cy="0"/>
          </a:xfrm>
          <a:prstGeom prst="line">
            <a:avLst/>
          </a:prstGeom>
          <a:noFill/>
          <a:ln w="19050">
            <a:solidFill>
              <a:srgbClr val="94A3B8"/>
            </a:solidFill>
            <a:prstDash val="dash"/>
          </a:ln>
        </p:spPr>
      </p:sp>
      <p:sp>
        <p:nvSpPr>
          <p:cNvPr id="19" name="Text 17"/>
          <p:cNvSpPr/>
          <p:nvPr/>
        </p:nvSpPr>
        <p:spPr>
          <a:xfrm>
            <a:off x="3794760" y="2240280"/>
            <a:ext cx="1143000" cy="594360"/>
          </a:xfrm>
          <a:prstGeom prst="rect">
            <a:avLst/>
          </a:prstGeom>
          <a:noFill/>
          <a:ln/>
        </p:spPr>
        <p:txBody>
          <a:bodyPr wrap="square" lIns="0" tIns="0" rIns="0" bIns="0" rtlCol="0" anchor="ctr"/>
          <a:lstStyle/>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Saturation</a:t>
            </a:r>
            <a:endParaRPr lang="en-US" sz="1100" dirty="0"/>
          </a:p>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(Hill Fn)</a:t>
            </a:r>
            <a:endParaRPr lang="en-US" sz="1100" dirty="0"/>
          </a:p>
        </p:txBody>
      </p:sp>
      <p:sp>
        <p:nvSpPr>
          <p:cNvPr id="20" name="Text 18"/>
          <p:cNvSpPr/>
          <p:nvPr/>
        </p:nvSpPr>
        <p:spPr>
          <a:xfrm>
            <a:off x="3794760" y="2834640"/>
            <a:ext cx="1143000" cy="502920"/>
          </a:xfrm>
          <a:prstGeom prst="rect">
            <a:avLst/>
          </a:prstGeom>
          <a:noFill/>
          <a:ln/>
        </p:spPr>
        <p:txBody>
          <a:bodyPr wrap="square" lIns="0" tIns="0" rIns="0" bIns="0" rtlCol="0" anchor="ctr"/>
          <a:lstStyle/>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Diminishing returns</a:t>
            </a:r>
            <a:endParaRPr lang="en-US" sz="900" dirty="0"/>
          </a:p>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curve fitting</a:t>
            </a:r>
            <a:endParaRPr lang="en-US" sz="900" dirty="0"/>
          </a:p>
        </p:txBody>
      </p:sp>
      <p:sp>
        <p:nvSpPr>
          <p:cNvPr id="21" name="Shape 19"/>
          <p:cNvSpPr/>
          <p:nvPr/>
        </p:nvSpPr>
        <p:spPr>
          <a:xfrm>
            <a:off x="5806440" y="1463040"/>
            <a:ext cx="594360" cy="594360"/>
          </a:xfrm>
          <a:prstGeom prst="ellipse">
            <a:avLst/>
          </a:prstGeom>
          <a:solidFill>
            <a:srgbClr val="1A2942"/>
          </a:solidFill>
          <a:ln/>
        </p:spPr>
      </p:sp>
      <p:sp>
        <p:nvSpPr>
          <p:cNvPr id="22" name="Text 20"/>
          <p:cNvSpPr/>
          <p:nvPr/>
        </p:nvSpPr>
        <p:spPr>
          <a:xfrm>
            <a:off x="5806440" y="14630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3" name="Shape 21"/>
          <p:cNvSpPr/>
          <p:nvPr/>
        </p:nvSpPr>
        <p:spPr>
          <a:xfrm>
            <a:off x="6537960" y="1755648"/>
            <a:ext cx="594360" cy="0"/>
          </a:xfrm>
          <a:prstGeom prst="line">
            <a:avLst/>
          </a:prstGeom>
          <a:noFill/>
          <a:ln w="19050">
            <a:solidFill>
              <a:srgbClr val="94A3B8"/>
            </a:solidFill>
            <a:prstDash val="dash"/>
          </a:ln>
        </p:spPr>
      </p:sp>
      <p:sp>
        <p:nvSpPr>
          <p:cNvPr id="24" name="Text 22"/>
          <p:cNvSpPr/>
          <p:nvPr/>
        </p:nvSpPr>
        <p:spPr>
          <a:xfrm>
            <a:off x="5532120" y="2240280"/>
            <a:ext cx="1143000" cy="594360"/>
          </a:xfrm>
          <a:prstGeom prst="rect">
            <a:avLst/>
          </a:prstGeom>
          <a:noFill/>
          <a:ln/>
        </p:spPr>
        <p:txBody>
          <a:bodyPr wrap="square" lIns="0" tIns="0" rIns="0" bIns="0" rtlCol="0" anchor="ctr"/>
          <a:lstStyle/>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OLS</a:t>
            </a:r>
            <a:endParaRPr lang="en-US" sz="1100" dirty="0"/>
          </a:p>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Regression</a:t>
            </a:r>
            <a:endParaRPr lang="en-US" sz="1100" dirty="0"/>
          </a:p>
        </p:txBody>
      </p:sp>
      <p:sp>
        <p:nvSpPr>
          <p:cNvPr id="25" name="Text 23"/>
          <p:cNvSpPr/>
          <p:nvPr/>
        </p:nvSpPr>
        <p:spPr>
          <a:xfrm>
            <a:off x="5532120" y="2834640"/>
            <a:ext cx="1143000" cy="502920"/>
          </a:xfrm>
          <a:prstGeom prst="rect">
            <a:avLst/>
          </a:prstGeom>
          <a:noFill/>
          <a:ln/>
        </p:spPr>
        <p:txBody>
          <a:bodyPr wrap="square" lIns="0" tIns="0" rIns="0" bIns="0" rtlCol="0" anchor="ctr"/>
          <a:lstStyle/>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With seasonality,</a:t>
            </a:r>
            <a:endParaRPr lang="en-US" sz="900" dirty="0"/>
          </a:p>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holiday, competitor</a:t>
            </a:r>
            <a:endParaRPr lang="en-US" sz="900" dirty="0"/>
          </a:p>
        </p:txBody>
      </p:sp>
      <p:sp>
        <p:nvSpPr>
          <p:cNvPr id="26" name="Shape 24"/>
          <p:cNvSpPr/>
          <p:nvPr/>
        </p:nvSpPr>
        <p:spPr>
          <a:xfrm>
            <a:off x="7543800" y="1463040"/>
            <a:ext cx="594360" cy="594360"/>
          </a:xfrm>
          <a:prstGeom prst="ellipse">
            <a:avLst/>
          </a:prstGeom>
          <a:solidFill>
            <a:srgbClr val="0EA5E9"/>
          </a:solidFill>
          <a:ln/>
        </p:spPr>
      </p:sp>
      <p:sp>
        <p:nvSpPr>
          <p:cNvPr id="27" name="Text 25"/>
          <p:cNvSpPr/>
          <p:nvPr/>
        </p:nvSpPr>
        <p:spPr>
          <a:xfrm>
            <a:off x="7543800" y="1463040"/>
            <a:ext cx="59436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8" name="Text 26"/>
          <p:cNvSpPr/>
          <p:nvPr/>
        </p:nvSpPr>
        <p:spPr>
          <a:xfrm>
            <a:off x="7269480" y="2240280"/>
            <a:ext cx="1143000" cy="594360"/>
          </a:xfrm>
          <a:prstGeom prst="rect">
            <a:avLst/>
          </a:prstGeom>
          <a:noFill/>
          <a:ln/>
        </p:spPr>
        <p:txBody>
          <a:bodyPr wrap="square" lIns="0" tIns="0" rIns="0" bIns="0" rtlCol="0" anchor="ctr"/>
          <a:lstStyle/>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Decompose</a:t>
            </a:r>
            <a:endParaRPr lang="en-US" sz="1100" dirty="0"/>
          </a:p>
          <a:p>
            <a:pPr algn="ctr" indent="0" marL="0">
              <a:lnSpc>
                <a:spcPct val="110000"/>
              </a:lnSpc>
              <a:buNone/>
            </a:pPr>
            <a:r>
              <a:rPr lang="en-US" sz="1100" b="1" dirty="0">
                <a:solidFill>
                  <a:srgbClr val="1E293B"/>
                </a:solidFill>
                <a:latin typeface="Calibri" pitchFamily="34" charset="0"/>
                <a:ea typeface="Calibri" pitchFamily="34" charset="-122"/>
                <a:cs typeface="Calibri" pitchFamily="34" charset="-120"/>
              </a:rPr>
              <a:t>&amp; Optimize</a:t>
            </a:r>
            <a:endParaRPr lang="en-US" sz="1100" dirty="0"/>
          </a:p>
        </p:txBody>
      </p:sp>
      <p:sp>
        <p:nvSpPr>
          <p:cNvPr id="29" name="Text 27"/>
          <p:cNvSpPr/>
          <p:nvPr/>
        </p:nvSpPr>
        <p:spPr>
          <a:xfrm>
            <a:off x="7269480" y="2834640"/>
            <a:ext cx="1143000" cy="502920"/>
          </a:xfrm>
          <a:prstGeom prst="rect">
            <a:avLst/>
          </a:prstGeom>
          <a:noFill/>
          <a:ln/>
        </p:spPr>
        <p:txBody>
          <a:bodyPr wrap="square" lIns="0" tIns="0" rIns="0" bIns="0" rtlCol="0" anchor="ctr"/>
          <a:lstStyle/>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Attribution +</a:t>
            </a:r>
            <a:endParaRPr lang="en-US" sz="900" dirty="0"/>
          </a:p>
          <a:p>
            <a:pPr algn="ctr" indent="0" marL="0">
              <a:lnSpc>
                <a:spcPct val="110000"/>
              </a:lnSpc>
              <a:buNone/>
            </a:pPr>
            <a:r>
              <a:rPr lang="en-US" sz="900" dirty="0">
                <a:solidFill>
                  <a:srgbClr val="475569"/>
                </a:solidFill>
                <a:latin typeface="Calibri" pitchFamily="34" charset="0"/>
                <a:ea typeface="Calibri" pitchFamily="34" charset="-122"/>
                <a:cs typeface="Calibri" pitchFamily="34" charset="-120"/>
              </a:rPr>
              <a:t>budget allocation</a:t>
            </a:r>
            <a:endParaRPr lang="en-US" sz="900" dirty="0"/>
          </a:p>
        </p:txBody>
      </p:sp>
      <p:sp>
        <p:nvSpPr>
          <p:cNvPr id="30" name="Shape 28"/>
          <p:cNvSpPr/>
          <p:nvPr/>
        </p:nvSpPr>
        <p:spPr>
          <a:xfrm>
            <a:off x="457200" y="3703320"/>
            <a:ext cx="8229600" cy="11887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31" name="Shape 29"/>
          <p:cNvSpPr/>
          <p:nvPr/>
        </p:nvSpPr>
        <p:spPr>
          <a:xfrm>
            <a:off x="457200" y="3703320"/>
            <a:ext cx="54864" cy="1188720"/>
          </a:xfrm>
          <a:prstGeom prst="rect">
            <a:avLst/>
          </a:prstGeom>
          <a:solidFill>
            <a:srgbClr val="0EA5E9"/>
          </a:solidFill>
          <a:ln/>
        </p:spPr>
      </p:sp>
      <p:sp>
        <p:nvSpPr>
          <p:cNvPr id="32" name="Text 30"/>
          <p:cNvSpPr/>
          <p:nvPr/>
        </p:nvSpPr>
        <p:spPr>
          <a:xfrm>
            <a:off x="731520" y="3749040"/>
            <a:ext cx="777240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Key Assumptions</a:t>
            </a:r>
            <a:endParaRPr lang="en-US" sz="1200" dirty="0"/>
          </a:p>
        </p:txBody>
      </p:sp>
      <p:sp>
        <p:nvSpPr>
          <p:cNvPr id="33" name="Text 31"/>
          <p:cNvSpPr/>
          <p:nvPr/>
        </p:nvSpPr>
        <p:spPr>
          <a:xfrm>
            <a:off x="731520" y="4069080"/>
            <a:ext cx="7772400" cy="777240"/>
          </a:xfrm>
          <a:prstGeom prst="rect">
            <a:avLst/>
          </a:prstGeom>
          <a:noFill/>
          <a:ln/>
        </p:spPr>
        <p:txBody>
          <a:bodyPr wrap="square" lIns="0" tIns="0" rIns="0" bIns="0" rtlCol="0" anchor="ctr"/>
          <a:lstStyle/>
          <a:p>
            <a:pPr indent="0" marL="0">
              <a:lnSpc>
                <a:spcPct val="125000"/>
              </a:lnSpc>
              <a:buNone/>
            </a:pPr>
            <a:r>
              <a:rPr lang="en-US" sz="1000" dirty="0">
                <a:solidFill>
                  <a:srgbClr val="475569"/>
                </a:solidFill>
                <a:latin typeface="Calibri" pitchFamily="34" charset="0"/>
                <a:ea typeface="Calibri" pitchFamily="34" charset="-122"/>
                <a:cs typeface="Calibri" pitchFamily="34" charset="-120"/>
              </a:rPr>
              <a:t>Adstock captures carryover effects (e.g., TV ad seen this week drives purchase next week). Saturation via Hill function models the point of diminishing returns per dollar spent. Together they remove bias that would distort a naive regression. Controls for seasonality, holidays, and competitor promotions isolate the true marketing effect.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DATA</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4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2 Years of Weekly Data Across 5 Paid Channels</a:t>
            </a:r>
            <a:endParaRPr lang="en-US" sz="2200" dirty="0"/>
          </a:p>
        </p:txBody>
      </p:sp>
      <p:sp>
        <p:nvSpPr>
          <p:cNvPr id="6" name="Text 4"/>
          <p:cNvSpPr/>
          <p:nvPr/>
        </p:nvSpPr>
        <p:spPr>
          <a:xfrm>
            <a:off x="457200" y="1371600"/>
            <a:ext cx="1371600" cy="502920"/>
          </a:xfrm>
          <a:prstGeom prst="rect">
            <a:avLst/>
          </a:prstGeom>
          <a:noFill/>
          <a:ln/>
        </p:spPr>
        <p:txBody>
          <a:bodyPr wrap="square" lIns="0" tIns="0" rIns="0" bIns="0"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104</a:t>
            </a:r>
            <a:endParaRPr lang="en-US" sz="3600" dirty="0"/>
          </a:p>
        </p:txBody>
      </p:sp>
      <p:sp>
        <p:nvSpPr>
          <p:cNvPr id="7" name="Text 5"/>
          <p:cNvSpPr/>
          <p:nvPr/>
        </p:nvSpPr>
        <p:spPr>
          <a:xfrm>
            <a:off x="457200" y="1828800"/>
            <a:ext cx="1371600" cy="320040"/>
          </a:xfrm>
          <a:prstGeom prst="rect">
            <a:avLst/>
          </a:prstGeom>
          <a:noFill/>
          <a:ln/>
        </p:spPr>
        <p:txBody>
          <a:bodyPr wrap="square" lIns="0" tIns="0" rIns="0" bIns="0"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Weeks of data (2 yrs)</a:t>
            </a:r>
            <a:endParaRPr lang="en-US" sz="900" dirty="0"/>
          </a:p>
        </p:txBody>
      </p:sp>
      <p:sp>
        <p:nvSpPr>
          <p:cNvPr id="8" name="Text 6"/>
          <p:cNvSpPr/>
          <p:nvPr/>
        </p:nvSpPr>
        <p:spPr>
          <a:xfrm>
            <a:off x="2103120" y="1371600"/>
            <a:ext cx="1371600" cy="502920"/>
          </a:xfrm>
          <a:prstGeom prst="rect">
            <a:avLst/>
          </a:prstGeom>
          <a:noFill/>
          <a:ln/>
        </p:spPr>
        <p:txBody>
          <a:bodyPr wrap="square" lIns="0" tIns="0" rIns="0" bIns="0"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5</a:t>
            </a:r>
            <a:endParaRPr lang="en-US" sz="3600" dirty="0"/>
          </a:p>
        </p:txBody>
      </p:sp>
      <p:sp>
        <p:nvSpPr>
          <p:cNvPr id="9" name="Text 7"/>
          <p:cNvSpPr/>
          <p:nvPr/>
        </p:nvSpPr>
        <p:spPr>
          <a:xfrm>
            <a:off x="2103120" y="1828800"/>
            <a:ext cx="1371600" cy="320040"/>
          </a:xfrm>
          <a:prstGeom prst="rect">
            <a:avLst/>
          </a:prstGeom>
          <a:noFill/>
          <a:ln/>
        </p:spPr>
        <p:txBody>
          <a:bodyPr wrap="square" lIns="0" tIns="0" rIns="0" bIns="0"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Marketing channels</a:t>
            </a:r>
            <a:endParaRPr lang="en-US" sz="900" dirty="0"/>
          </a:p>
        </p:txBody>
      </p:sp>
      <p:sp>
        <p:nvSpPr>
          <p:cNvPr id="10" name="Text 8"/>
          <p:cNvSpPr/>
          <p:nvPr/>
        </p:nvSpPr>
        <p:spPr>
          <a:xfrm>
            <a:off x="3749040" y="1371600"/>
            <a:ext cx="1371600" cy="502920"/>
          </a:xfrm>
          <a:prstGeom prst="rect">
            <a:avLst/>
          </a:prstGeom>
          <a:noFill/>
          <a:ln/>
        </p:spPr>
        <p:txBody>
          <a:bodyPr wrap="square" lIns="0" tIns="0" rIns="0" bIns="0" rtlCol="0" anchor="ctr"/>
          <a:lstStyle/>
          <a:p>
            <a:pPr algn="ctr" indent="0" marL="0">
              <a:buNone/>
            </a:pPr>
            <a:r>
              <a:rPr lang="en-US" sz="3600" b="1" dirty="0">
                <a:solidFill>
                  <a:srgbClr val="0EA5E9"/>
                </a:solidFill>
                <a:latin typeface="Calibri" pitchFamily="34" charset="0"/>
                <a:ea typeface="Calibri" pitchFamily="34" charset="-122"/>
                <a:cs typeface="Calibri" pitchFamily="34" charset="-120"/>
              </a:rPr>
              <a:t>3</a:t>
            </a:r>
            <a:endParaRPr lang="en-US" sz="3600" dirty="0"/>
          </a:p>
        </p:txBody>
      </p:sp>
      <p:sp>
        <p:nvSpPr>
          <p:cNvPr id="11" name="Text 9"/>
          <p:cNvSpPr/>
          <p:nvPr/>
        </p:nvSpPr>
        <p:spPr>
          <a:xfrm>
            <a:off x="3749040" y="1828800"/>
            <a:ext cx="1371600" cy="320040"/>
          </a:xfrm>
          <a:prstGeom prst="rect">
            <a:avLst/>
          </a:prstGeom>
          <a:noFill/>
          <a:ln/>
        </p:spPr>
        <p:txBody>
          <a:bodyPr wrap="square" lIns="0" tIns="0" rIns="0" bIns="0" rtlCol="0" anchor="ctr"/>
          <a:lstStyle/>
          <a:p>
            <a:pPr algn="ctr" indent="0" marL="0">
              <a:buNone/>
            </a:pPr>
            <a:r>
              <a:rPr lang="en-US" sz="900" dirty="0">
                <a:solidFill>
                  <a:srgbClr val="475569"/>
                </a:solidFill>
                <a:latin typeface="Calibri" pitchFamily="34" charset="0"/>
                <a:ea typeface="Calibri" pitchFamily="34" charset="-122"/>
                <a:cs typeface="Calibri" pitchFamily="34" charset="-120"/>
              </a:rPr>
              <a:t>Control variables</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4754880" cy="914400"/>
        </p:xfrm>
        <a:graphic>
          <a:graphicData uri="http://schemas.openxmlformats.org/drawingml/2006/table">
            <a:tbl>
              <a:tblPr/>
              <a:tblGrid>
                <a:gridCol w="1280160"/>
                <a:gridCol w="1188720"/>
                <a:gridCol w="1097280"/>
                <a:gridCol w="100584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Channel</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94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Avg Weekly Spend</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94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Spend Range</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94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of Budget</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942"/>
                    </a:solidFill>
                  </a:tcPr>
                </a:tc>
              </a:tr>
              <a:tr h="292608">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TV</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$38,715</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$14K – $59K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Paid Search</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$20,336</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$10K – $34K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Social Media</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$15,258</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$2K – $30K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92608">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Display</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$9,893</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$3K – $19K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292608">
                <a:tc>
                  <a:txBody>
                    <a:bodyPr/>
                    <a:lstStyle/>
                    <a:p>
                      <a:pPr algn="l" indent="0" marL="0">
                        <a:buNone/>
                      </a:pPr>
                      <a:r>
                        <a:rPr lang="en-US" sz="1000" b="1" dirty="0">
                          <a:solidFill>
                            <a:srgbClr val="1E293B"/>
                          </a:solidFill>
                          <a:latin typeface="Calibri" pitchFamily="34" charset="0"/>
                          <a:ea typeface="Calibri" pitchFamily="34" charset="-122"/>
                          <a:cs typeface="Calibri" pitchFamily="34" charset="-120"/>
                        </a:rPr>
                        <a:t>Email / CRM</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$3,039</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$1K – $5K</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293B"/>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3" name="Text 10"/>
          <p:cNvSpPr/>
          <p:nvPr/>
        </p:nvSpPr>
        <p:spPr>
          <a:xfrm>
            <a:off x="457200" y="4160520"/>
            <a:ext cx="4754880" cy="320040"/>
          </a:xfrm>
          <a:prstGeom prst="rect">
            <a:avLst/>
          </a:prstGeom>
          <a:noFill/>
          <a:ln/>
        </p:spPr>
        <p:txBody>
          <a:bodyPr wrap="square" lIns="0" tIns="0" rIns="0" bIns="0" rtlCol="0" anchor="ctr"/>
          <a:lstStyle/>
          <a:p>
            <a:pPr indent="0" marL="0">
              <a:buNone/>
            </a:pPr>
            <a:r>
              <a:rPr lang="en-US" sz="850" i="1" dirty="0">
                <a:solidFill>
                  <a:srgbClr val="94A3B8"/>
                </a:solidFill>
                <a:latin typeface="Calibri" pitchFamily="34" charset="0"/>
                <a:ea typeface="Calibri" pitchFamily="34" charset="-122"/>
                <a:cs typeface="Calibri" pitchFamily="34" charset="-120"/>
              </a:rPr>
              <a:t>Controls: seasonality index, holiday flags (Black Friday +75%, Christmas +60%), competitor promo (−8%)</a:t>
            </a:r>
            <a:endParaRPr lang="en-US" sz="850" dirty="0"/>
          </a:p>
        </p:txBody>
      </p:sp>
      <p:pic>
        <p:nvPicPr>
          <p:cNvPr id="14" name="Image 0" descr="/home/claude/distributions.png">    </p:cNvPr>
          <p:cNvPicPr>
            <a:picLocks noChangeAspect="1"/>
          </p:cNvPicPr>
          <p:nvPr/>
        </p:nvPicPr>
        <p:blipFill>
          <a:blip r:embed="rId1"/>
          <a:stretch>
            <a:fillRect/>
          </a:stretch>
        </p:blipFill>
        <p:spPr>
          <a:xfrm>
            <a:off x="5303520" y="1371600"/>
            <a:ext cx="3566160" cy="1920240"/>
          </a:xfrm>
          <a:prstGeom prst="rect">
            <a:avLst/>
          </a:prstGeom>
        </p:spPr>
      </p:pic>
      <p:sp>
        <p:nvSpPr>
          <p:cNvPr id="15" name="Text 11"/>
          <p:cNvSpPr/>
          <p:nvPr/>
        </p:nvSpPr>
        <p:spPr>
          <a:xfrm>
            <a:off x="5303520" y="3474720"/>
            <a:ext cx="3566160" cy="365760"/>
          </a:xfrm>
          <a:prstGeom prst="rect">
            <a:avLst/>
          </a:prstGeom>
          <a:noFill/>
          <a:ln/>
        </p:spPr>
        <p:txBody>
          <a:bodyPr wrap="square" lIns="0" tIns="0" rIns="0" bIns="0" rtlCol="0" anchor="ctr"/>
          <a:lstStyle/>
          <a:p>
            <a:pPr algn="ctr" indent="0" marL="0">
              <a:buNone/>
            </a:pPr>
            <a:r>
              <a:rPr lang="en-US" sz="1200" b="1" dirty="0">
                <a:solidFill>
                  <a:srgbClr val="0EA5E9"/>
                </a:solidFill>
                <a:latin typeface="Calibri" pitchFamily="34" charset="0"/>
                <a:ea typeface="Calibri" pitchFamily="34" charset="-122"/>
                <a:cs typeface="Calibri" pitchFamily="34" charset="-120"/>
              </a:rPr>
              <a:t>Mean Weekly Revenue: $301,404</a:t>
            </a:r>
            <a:endParaRPr lang="en-US" sz="1200" dirty="0"/>
          </a:p>
        </p:txBody>
      </p:sp>
      <p:sp>
        <p:nvSpPr>
          <p:cNvPr id="16" name="Text 12"/>
          <p:cNvSpPr/>
          <p:nvPr/>
        </p:nvSpPr>
        <p:spPr>
          <a:xfrm>
            <a:off x="5303520" y="3794760"/>
            <a:ext cx="3566160" cy="32004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Total Weekly Budget: $87,240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FINDINGS</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5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Every Channel Shows Diminishing Returns — But at Different Rates</a:t>
            </a:r>
            <a:endParaRPr lang="en-US" sz="2200" dirty="0"/>
          </a:p>
        </p:txBody>
      </p:sp>
      <p:pic>
        <p:nvPicPr>
          <p:cNvPr id="6" name="Image 0" descr="/home/claude/response_overlay.png">    </p:cNvPr>
          <p:cNvPicPr>
            <a:picLocks noChangeAspect="1"/>
          </p:cNvPicPr>
          <p:nvPr/>
        </p:nvPicPr>
        <p:blipFill>
          <a:blip r:embed="rId1"/>
          <a:stretch>
            <a:fillRect/>
          </a:stretch>
        </p:blipFill>
        <p:spPr>
          <a:xfrm>
            <a:off x="274320" y="1371600"/>
            <a:ext cx="5029200" cy="3200400"/>
          </a:xfrm>
          <a:prstGeom prst="rect">
            <a:avLst/>
          </a:prstGeom>
        </p:spPr>
      </p:pic>
      <p:sp>
        <p:nvSpPr>
          <p:cNvPr id="7" name="Shape 4"/>
          <p:cNvSpPr/>
          <p:nvPr/>
        </p:nvSpPr>
        <p:spPr>
          <a:xfrm>
            <a:off x="5486400" y="1463040"/>
            <a:ext cx="164592" cy="164592"/>
          </a:xfrm>
          <a:prstGeom prst="ellipse">
            <a:avLst/>
          </a:prstGeom>
          <a:solidFill>
            <a:srgbClr val="10B981"/>
          </a:solidFill>
          <a:ln/>
        </p:spPr>
      </p:sp>
      <p:sp>
        <p:nvSpPr>
          <p:cNvPr id="8" name="Text 5"/>
          <p:cNvSpPr/>
          <p:nvPr/>
        </p:nvSpPr>
        <p:spPr>
          <a:xfrm>
            <a:off x="5760720" y="1399032"/>
            <a:ext cx="29260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Email</a:t>
            </a:r>
            <a:endParaRPr lang="en-US" sz="1200" dirty="0"/>
          </a:p>
        </p:txBody>
      </p:sp>
      <p:sp>
        <p:nvSpPr>
          <p:cNvPr id="9" name="Text 6"/>
          <p:cNvSpPr/>
          <p:nvPr/>
        </p:nvSpPr>
        <p:spPr>
          <a:xfrm>
            <a:off x="5760720" y="1645920"/>
            <a:ext cx="3108960" cy="548640"/>
          </a:xfrm>
          <a:prstGeom prst="rect">
            <a:avLst/>
          </a:prstGeom>
          <a:noFill/>
          <a:ln/>
        </p:spPr>
        <p:txBody>
          <a:bodyPr wrap="square" lIns="0" tIns="0" rIns="0" bIns="0"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Highest ROI at 7.48x — saturates fast due to small list size, but every dollar works hard.</a:t>
            </a:r>
            <a:endParaRPr lang="en-US" sz="900" dirty="0"/>
          </a:p>
        </p:txBody>
      </p:sp>
      <p:sp>
        <p:nvSpPr>
          <p:cNvPr id="10" name="Shape 7"/>
          <p:cNvSpPr/>
          <p:nvPr/>
        </p:nvSpPr>
        <p:spPr>
          <a:xfrm>
            <a:off x="5486400" y="2331720"/>
            <a:ext cx="164592" cy="164592"/>
          </a:xfrm>
          <a:prstGeom prst="ellipse">
            <a:avLst/>
          </a:prstGeom>
          <a:solidFill>
            <a:srgbClr val="0EA5E9"/>
          </a:solidFill>
          <a:ln/>
        </p:spPr>
      </p:sp>
      <p:sp>
        <p:nvSpPr>
          <p:cNvPr id="11" name="Text 8"/>
          <p:cNvSpPr/>
          <p:nvPr/>
        </p:nvSpPr>
        <p:spPr>
          <a:xfrm>
            <a:off x="5760720" y="2267712"/>
            <a:ext cx="29260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Display</a:t>
            </a:r>
            <a:endParaRPr lang="en-US" sz="1200" dirty="0"/>
          </a:p>
        </p:txBody>
      </p:sp>
      <p:sp>
        <p:nvSpPr>
          <p:cNvPr id="12" name="Text 9"/>
          <p:cNvSpPr/>
          <p:nvPr/>
        </p:nvSpPr>
        <p:spPr>
          <a:xfrm>
            <a:off x="5760720" y="2514600"/>
            <a:ext cx="3108960" cy="548640"/>
          </a:xfrm>
          <a:prstGeom prst="rect">
            <a:avLst/>
          </a:prstGeom>
          <a:noFill/>
          <a:ln/>
        </p:spPr>
        <p:txBody>
          <a:bodyPr wrap="square" lIns="0" tIns="0" rIns="0" bIns="0"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Strong 2.34x ROI — currently underfunded at 11% of budget. Room to scale.</a:t>
            </a:r>
            <a:endParaRPr lang="en-US" sz="900" dirty="0"/>
          </a:p>
        </p:txBody>
      </p:sp>
      <p:sp>
        <p:nvSpPr>
          <p:cNvPr id="13" name="Shape 10"/>
          <p:cNvSpPr/>
          <p:nvPr/>
        </p:nvSpPr>
        <p:spPr>
          <a:xfrm>
            <a:off x="5486400" y="3200400"/>
            <a:ext cx="164592" cy="164592"/>
          </a:xfrm>
          <a:prstGeom prst="ellipse">
            <a:avLst/>
          </a:prstGeom>
          <a:solidFill>
            <a:srgbClr val="F59E0B"/>
          </a:solidFill>
          <a:ln/>
        </p:spPr>
      </p:sp>
      <p:sp>
        <p:nvSpPr>
          <p:cNvPr id="14" name="Text 11"/>
          <p:cNvSpPr/>
          <p:nvPr/>
        </p:nvSpPr>
        <p:spPr>
          <a:xfrm>
            <a:off x="5760720" y="3136392"/>
            <a:ext cx="29260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Search</a:t>
            </a:r>
            <a:endParaRPr lang="en-US" sz="1200" dirty="0"/>
          </a:p>
        </p:txBody>
      </p:sp>
      <p:sp>
        <p:nvSpPr>
          <p:cNvPr id="15" name="Text 12"/>
          <p:cNvSpPr/>
          <p:nvPr/>
        </p:nvSpPr>
        <p:spPr>
          <a:xfrm>
            <a:off x="5760720" y="3383280"/>
            <a:ext cx="3108960" cy="548640"/>
          </a:xfrm>
          <a:prstGeom prst="rect">
            <a:avLst/>
          </a:prstGeom>
          <a:noFill/>
          <a:ln/>
        </p:spPr>
        <p:txBody>
          <a:bodyPr wrap="square" lIns="0" tIns="0" rIns="0" bIns="0"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Moderate 1.15x ROI — solid performance channel with concave returns.</a:t>
            </a:r>
            <a:endParaRPr lang="en-US" sz="900" dirty="0"/>
          </a:p>
        </p:txBody>
      </p:sp>
      <p:sp>
        <p:nvSpPr>
          <p:cNvPr id="16" name="Shape 13"/>
          <p:cNvSpPr/>
          <p:nvPr/>
        </p:nvSpPr>
        <p:spPr>
          <a:xfrm>
            <a:off x="5486400" y="4069080"/>
            <a:ext cx="164592" cy="164592"/>
          </a:xfrm>
          <a:prstGeom prst="ellipse">
            <a:avLst/>
          </a:prstGeom>
          <a:solidFill>
            <a:srgbClr val="EF4444"/>
          </a:solidFill>
          <a:ln/>
        </p:spPr>
      </p:sp>
      <p:sp>
        <p:nvSpPr>
          <p:cNvPr id="17" name="Text 14"/>
          <p:cNvSpPr/>
          <p:nvPr/>
        </p:nvSpPr>
        <p:spPr>
          <a:xfrm>
            <a:off x="5760720" y="4005072"/>
            <a:ext cx="2926080" cy="256032"/>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TV</a:t>
            </a:r>
            <a:endParaRPr lang="en-US" sz="1200" dirty="0"/>
          </a:p>
        </p:txBody>
      </p:sp>
      <p:sp>
        <p:nvSpPr>
          <p:cNvPr id="18" name="Text 15"/>
          <p:cNvSpPr/>
          <p:nvPr/>
        </p:nvSpPr>
        <p:spPr>
          <a:xfrm>
            <a:off x="5760720" y="4251960"/>
            <a:ext cx="3108960" cy="548640"/>
          </a:xfrm>
          <a:prstGeom prst="rect">
            <a:avLst/>
          </a:prstGeom>
          <a:noFill/>
          <a:ln/>
        </p:spPr>
        <p:txBody>
          <a:bodyPr wrap="square" lIns="0" tIns="0" rIns="0" bIns="0"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Lowest ROI at 0.55x — gets 44% of budget but is deep in diminishing returns.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FINDINGS</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6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Revenue Decomposition: What's Actually Driving Sales?</a:t>
            </a:r>
            <a:endParaRPr lang="en-US" sz="2200" dirty="0"/>
          </a:p>
        </p:txBody>
      </p:sp>
      <p:pic>
        <p:nvPicPr>
          <p:cNvPr id="6" name="Image 0" descr="/home/claude/waterfall.png">    </p:cNvPr>
          <p:cNvPicPr>
            <a:picLocks noChangeAspect="1"/>
          </p:cNvPicPr>
          <p:nvPr/>
        </p:nvPicPr>
        <p:blipFill>
          <a:blip r:embed="rId1"/>
          <a:stretch>
            <a:fillRect/>
          </a:stretch>
        </p:blipFill>
        <p:spPr>
          <a:xfrm>
            <a:off x="182880" y="1325880"/>
            <a:ext cx="5303520" cy="3108960"/>
          </a:xfrm>
          <a:prstGeom prst="rect">
            <a:avLst/>
          </a:prstGeom>
        </p:spPr>
      </p:pic>
      <p:sp>
        <p:nvSpPr>
          <p:cNvPr id="7" name="Text 4"/>
          <p:cNvSpPr/>
          <p:nvPr/>
        </p:nvSpPr>
        <p:spPr>
          <a:xfrm>
            <a:off x="5669280" y="1371600"/>
            <a:ext cx="32004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Contribution Breakdown</a:t>
            </a:r>
            <a:endParaRPr lang="en-US" sz="1400" dirty="0"/>
          </a:p>
        </p:txBody>
      </p:sp>
      <p:sp>
        <p:nvSpPr>
          <p:cNvPr id="8" name="Text 5"/>
          <p:cNvSpPr/>
          <p:nvPr/>
        </p:nvSpPr>
        <p:spPr>
          <a:xfrm>
            <a:off x="5669280" y="1828800"/>
            <a:ext cx="548640" cy="320040"/>
          </a:xfrm>
          <a:prstGeom prst="rect">
            <a:avLst/>
          </a:prstGeom>
          <a:noFill/>
          <a:ln/>
        </p:spPr>
        <p:txBody>
          <a:bodyPr wrap="square" lIns="0" tIns="0" rIns="0" bIns="0" rtlCol="0" anchor="ctr"/>
          <a:lstStyle/>
          <a:p>
            <a:pPr algn="l" indent="0" marL="0">
              <a:buNone/>
            </a:pPr>
            <a:r>
              <a:rPr lang="en-US" sz="1600" b="1" dirty="0">
                <a:solidFill>
                  <a:srgbClr val="065A82"/>
                </a:solidFill>
                <a:latin typeface="Calibri" pitchFamily="34" charset="0"/>
                <a:ea typeface="Calibri" pitchFamily="34" charset="-122"/>
                <a:cs typeface="Calibri" pitchFamily="34" charset="-120"/>
              </a:rPr>
              <a:t>64%</a:t>
            </a:r>
            <a:endParaRPr lang="en-US" sz="1600" dirty="0"/>
          </a:p>
        </p:txBody>
      </p:sp>
      <p:sp>
        <p:nvSpPr>
          <p:cNvPr id="9" name="Text 6"/>
          <p:cNvSpPr/>
          <p:nvPr/>
        </p:nvSpPr>
        <p:spPr>
          <a:xfrm>
            <a:off x="6263640" y="1847088"/>
            <a:ext cx="25603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Base revenue (organic / brand)</a:t>
            </a:r>
            <a:endParaRPr lang="en-US" sz="1000" dirty="0"/>
          </a:p>
        </p:txBody>
      </p:sp>
      <p:sp>
        <p:nvSpPr>
          <p:cNvPr id="10" name="Text 7"/>
          <p:cNvSpPr/>
          <p:nvPr/>
        </p:nvSpPr>
        <p:spPr>
          <a:xfrm>
            <a:off x="5669280" y="2304288"/>
            <a:ext cx="548640" cy="320040"/>
          </a:xfrm>
          <a:prstGeom prst="rect">
            <a:avLst/>
          </a:prstGeom>
          <a:noFill/>
          <a:ln/>
        </p:spPr>
        <p:txBody>
          <a:bodyPr wrap="square" lIns="0" tIns="0" rIns="0" bIns="0" rtlCol="0" anchor="ctr"/>
          <a:lstStyle/>
          <a:p>
            <a:pPr algn="l" indent="0" marL="0">
              <a:buNone/>
            </a:pPr>
            <a:r>
              <a:rPr lang="en-US" sz="1600" b="1" dirty="0">
                <a:solidFill>
                  <a:srgbClr val="0EA5E9"/>
                </a:solidFill>
                <a:latin typeface="Calibri" pitchFamily="34" charset="0"/>
                <a:ea typeface="Calibri" pitchFamily="34" charset="-122"/>
                <a:cs typeface="Calibri" pitchFamily="34" charset="-120"/>
              </a:rPr>
              <a:t>8%</a:t>
            </a:r>
            <a:endParaRPr lang="en-US" sz="1600" dirty="0"/>
          </a:p>
        </p:txBody>
      </p:sp>
      <p:sp>
        <p:nvSpPr>
          <p:cNvPr id="11" name="Text 8"/>
          <p:cNvSpPr/>
          <p:nvPr/>
        </p:nvSpPr>
        <p:spPr>
          <a:xfrm>
            <a:off x="6263640" y="2322576"/>
            <a:ext cx="25603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Paid Search — top paid driver</a:t>
            </a:r>
            <a:endParaRPr lang="en-US" sz="1000" dirty="0"/>
          </a:p>
        </p:txBody>
      </p:sp>
      <p:sp>
        <p:nvSpPr>
          <p:cNvPr id="12" name="Text 9"/>
          <p:cNvSpPr/>
          <p:nvPr/>
        </p:nvSpPr>
        <p:spPr>
          <a:xfrm>
            <a:off x="5669280" y="2779776"/>
            <a:ext cx="548640" cy="320040"/>
          </a:xfrm>
          <a:prstGeom prst="rect">
            <a:avLst/>
          </a:prstGeom>
          <a:noFill/>
          <a:ln/>
        </p:spPr>
        <p:txBody>
          <a:bodyPr wrap="square" lIns="0" tIns="0" rIns="0" bIns="0" rtlCol="0" anchor="ctr"/>
          <a:lstStyle/>
          <a:p>
            <a:pPr algn="l" indent="0" marL="0">
              <a:buNone/>
            </a:pPr>
            <a:r>
              <a:rPr lang="en-US" sz="1600" b="1" dirty="0">
                <a:solidFill>
                  <a:srgbClr val="10B981"/>
                </a:solidFill>
                <a:latin typeface="Calibri" pitchFamily="34" charset="0"/>
                <a:ea typeface="Calibri" pitchFamily="34" charset="-122"/>
                <a:cs typeface="Calibri" pitchFamily="34" charset="-120"/>
              </a:rPr>
              <a:t>8%</a:t>
            </a:r>
            <a:endParaRPr lang="en-US" sz="1600" dirty="0"/>
          </a:p>
        </p:txBody>
      </p:sp>
      <p:sp>
        <p:nvSpPr>
          <p:cNvPr id="13" name="Text 10"/>
          <p:cNvSpPr/>
          <p:nvPr/>
        </p:nvSpPr>
        <p:spPr>
          <a:xfrm>
            <a:off x="6263640" y="2798064"/>
            <a:ext cx="25603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Display — strong efficiency</a:t>
            </a:r>
            <a:endParaRPr lang="en-US" sz="1000" dirty="0"/>
          </a:p>
        </p:txBody>
      </p:sp>
      <p:sp>
        <p:nvSpPr>
          <p:cNvPr id="14" name="Text 11"/>
          <p:cNvSpPr/>
          <p:nvPr/>
        </p:nvSpPr>
        <p:spPr>
          <a:xfrm>
            <a:off x="5669280" y="3255264"/>
            <a:ext cx="548640" cy="320040"/>
          </a:xfrm>
          <a:prstGeom prst="rect">
            <a:avLst/>
          </a:prstGeom>
          <a:noFill/>
          <a:ln/>
        </p:spPr>
        <p:txBody>
          <a:bodyPr wrap="square" lIns="0" tIns="0" rIns="0" bIns="0" rtlCol="0" anchor="ctr"/>
          <a:lstStyle/>
          <a:p>
            <a:pPr algn="l" indent="0" marL="0">
              <a:buNone/>
            </a:pPr>
            <a:r>
              <a:rPr lang="en-US" sz="1600" b="1" dirty="0">
                <a:solidFill>
                  <a:srgbClr val="10B981"/>
                </a:solidFill>
                <a:latin typeface="Calibri" pitchFamily="34" charset="0"/>
                <a:ea typeface="Calibri" pitchFamily="34" charset="-122"/>
                <a:cs typeface="Calibri" pitchFamily="34" charset="-120"/>
              </a:rPr>
              <a:t>8%</a:t>
            </a:r>
            <a:endParaRPr lang="en-US" sz="1600" dirty="0"/>
          </a:p>
        </p:txBody>
      </p:sp>
      <p:sp>
        <p:nvSpPr>
          <p:cNvPr id="15" name="Text 12"/>
          <p:cNvSpPr/>
          <p:nvPr/>
        </p:nvSpPr>
        <p:spPr>
          <a:xfrm>
            <a:off x="6263640" y="3273552"/>
            <a:ext cx="25603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Email — highest per-dollar impact</a:t>
            </a:r>
            <a:endParaRPr lang="en-US" sz="1000" dirty="0"/>
          </a:p>
        </p:txBody>
      </p:sp>
      <p:sp>
        <p:nvSpPr>
          <p:cNvPr id="16" name="Text 13"/>
          <p:cNvSpPr/>
          <p:nvPr/>
        </p:nvSpPr>
        <p:spPr>
          <a:xfrm>
            <a:off x="5669280" y="3730752"/>
            <a:ext cx="548640" cy="320040"/>
          </a:xfrm>
          <a:prstGeom prst="rect">
            <a:avLst/>
          </a:prstGeom>
          <a:noFill/>
          <a:ln/>
        </p:spPr>
        <p:txBody>
          <a:bodyPr wrap="square" lIns="0" tIns="0" rIns="0" bIns="0" rtlCol="0" anchor="ctr"/>
          <a:lstStyle/>
          <a:p>
            <a:pPr algn="l" indent="0" marL="0">
              <a:buNone/>
            </a:pPr>
            <a:r>
              <a:rPr lang="en-US" sz="1600" b="1" dirty="0">
                <a:solidFill>
                  <a:srgbClr val="F59E0B"/>
                </a:solidFill>
                <a:latin typeface="Calibri" pitchFamily="34" charset="0"/>
                <a:ea typeface="Calibri" pitchFamily="34" charset="-122"/>
                <a:cs typeface="Calibri" pitchFamily="34" charset="-120"/>
              </a:rPr>
              <a:t>7%</a:t>
            </a:r>
            <a:endParaRPr lang="en-US" sz="1600" dirty="0"/>
          </a:p>
        </p:txBody>
      </p:sp>
      <p:sp>
        <p:nvSpPr>
          <p:cNvPr id="17" name="Text 14"/>
          <p:cNvSpPr/>
          <p:nvPr/>
        </p:nvSpPr>
        <p:spPr>
          <a:xfrm>
            <a:off x="6263640" y="3749040"/>
            <a:ext cx="25603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TV — large spend, modest lift</a:t>
            </a:r>
            <a:endParaRPr lang="en-US" sz="1000" dirty="0"/>
          </a:p>
        </p:txBody>
      </p:sp>
      <p:sp>
        <p:nvSpPr>
          <p:cNvPr id="18" name="Text 15"/>
          <p:cNvSpPr/>
          <p:nvPr/>
        </p:nvSpPr>
        <p:spPr>
          <a:xfrm>
            <a:off x="5669280" y="4206240"/>
            <a:ext cx="548640" cy="320040"/>
          </a:xfrm>
          <a:prstGeom prst="rect">
            <a:avLst/>
          </a:prstGeom>
          <a:noFill/>
          <a:ln/>
        </p:spPr>
        <p:txBody>
          <a:bodyPr wrap="square" lIns="0" tIns="0" rIns="0" bIns="0" rtlCol="0" anchor="ctr"/>
          <a:lstStyle/>
          <a:p>
            <a:pPr algn="l" indent="0" marL="0">
              <a:buNone/>
            </a:pPr>
            <a:r>
              <a:rPr lang="en-US" sz="1600" b="1" dirty="0">
                <a:solidFill>
                  <a:srgbClr val="94A3B8"/>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6263640" y="4224528"/>
            <a:ext cx="2560320" cy="320040"/>
          </a:xfrm>
          <a:prstGeom prst="rect">
            <a:avLst/>
          </a:prstGeom>
          <a:noFill/>
          <a:ln/>
        </p:spPr>
        <p:txBody>
          <a:bodyPr wrap="square" lIns="0" tIns="0" rIns="0" bIns="0"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Social + Holiday + Other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FINDINGS</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7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Not All Channels Are Equal: ROI Varies 14x Across Channels</a:t>
            </a:r>
            <a:endParaRPr lang="en-US" sz="2200" dirty="0"/>
          </a:p>
        </p:txBody>
      </p:sp>
      <p:pic>
        <p:nvPicPr>
          <p:cNvPr id="6" name="Image 0" descr="/home/claude/roi_bar.png">    </p:cNvPr>
          <p:cNvPicPr>
            <a:picLocks noChangeAspect="1"/>
          </p:cNvPicPr>
          <p:nvPr/>
        </p:nvPicPr>
        <p:blipFill>
          <a:blip r:embed="rId1"/>
          <a:stretch>
            <a:fillRect/>
          </a:stretch>
        </p:blipFill>
        <p:spPr>
          <a:xfrm>
            <a:off x="182880" y="1371600"/>
            <a:ext cx="5120640" cy="3063240"/>
          </a:xfrm>
          <a:prstGeom prst="rect">
            <a:avLst/>
          </a:prstGeom>
        </p:spPr>
      </p:pic>
      <p:sp>
        <p:nvSpPr>
          <p:cNvPr id="7" name="Shape 4"/>
          <p:cNvSpPr/>
          <p:nvPr/>
        </p:nvSpPr>
        <p:spPr>
          <a:xfrm>
            <a:off x="5577840" y="1463040"/>
            <a:ext cx="320040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5"/>
          <p:cNvSpPr/>
          <p:nvPr/>
        </p:nvSpPr>
        <p:spPr>
          <a:xfrm>
            <a:off x="5577840" y="1463040"/>
            <a:ext cx="54864" cy="1280160"/>
          </a:xfrm>
          <a:prstGeom prst="rect">
            <a:avLst/>
          </a:prstGeom>
          <a:solidFill>
            <a:srgbClr val="10B981"/>
          </a:solidFill>
          <a:ln/>
        </p:spPr>
      </p:sp>
      <p:sp>
        <p:nvSpPr>
          <p:cNvPr id="9" name="Text 6"/>
          <p:cNvSpPr/>
          <p:nvPr/>
        </p:nvSpPr>
        <p:spPr>
          <a:xfrm>
            <a:off x="5806440" y="1554480"/>
            <a:ext cx="2834640" cy="228600"/>
          </a:xfrm>
          <a:prstGeom prst="rect">
            <a:avLst/>
          </a:prstGeom>
          <a:noFill/>
          <a:ln/>
        </p:spPr>
        <p:txBody>
          <a:bodyPr wrap="square" lIns="0" tIns="0" rIns="0" bIns="0" rtlCol="0" anchor="ctr"/>
          <a:lstStyle/>
          <a:p>
            <a:pPr indent="0" marL="0">
              <a:buNone/>
            </a:pPr>
            <a:r>
              <a:rPr lang="en-US" sz="900" b="1" spc="200" kern="0" dirty="0">
                <a:solidFill>
                  <a:srgbClr val="10B981"/>
                </a:solidFill>
                <a:latin typeface="Calibri" pitchFamily="34" charset="0"/>
                <a:ea typeface="Calibri" pitchFamily="34" charset="-122"/>
                <a:cs typeface="Calibri" pitchFamily="34" charset="-120"/>
              </a:rPr>
              <a:t>MOST EFFICIENT</a:t>
            </a:r>
            <a:endParaRPr lang="en-US" sz="900" dirty="0"/>
          </a:p>
        </p:txBody>
      </p:sp>
      <p:sp>
        <p:nvSpPr>
          <p:cNvPr id="10" name="Text 7"/>
          <p:cNvSpPr/>
          <p:nvPr/>
        </p:nvSpPr>
        <p:spPr>
          <a:xfrm>
            <a:off x="5806440" y="1783080"/>
            <a:ext cx="2834640" cy="27432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Email / CRM</a:t>
            </a:r>
            <a:endParaRPr lang="en-US" sz="1600" dirty="0"/>
          </a:p>
        </p:txBody>
      </p:sp>
      <p:sp>
        <p:nvSpPr>
          <p:cNvPr id="11" name="Text 8"/>
          <p:cNvSpPr/>
          <p:nvPr/>
        </p:nvSpPr>
        <p:spPr>
          <a:xfrm>
            <a:off x="5806440" y="2057400"/>
            <a:ext cx="2834640" cy="228600"/>
          </a:xfrm>
          <a:prstGeom prst="rect">
            <a:avLst/>
          </a:prstGeom>
          <a:noFill/>
          <a:ln/>
        </p:spPr>
        <p:txBody>
          <a:bodyPr wrap="square" lIns="0" tIns="0" rIns="0" bIns="0" rtlCol="0" anchor="ctr"/>
          <a:lstStyle/>
          <a:p>
            <a:pPr indent="0" marL="0">
              <a:buNone/>
            </a:pPr>
            <a:r>
              <a:rPr lang="en-US" sz="1100" dirty="0">
                <a:solidFill>
                  <a:srgbClr val="0EA5E9"/>
                </a:solidFill>
                <a:latin typeface="Calibri" pitchFamily="34" charset="0"/>
                <a:ea typeface="Calibri" pitchFamily="34" charset="-122"/>
                <a:cs typeface="Calibri" pitchFamily="34" charset="-120"/>
              </a:rPr>
              <a:t>$7.48 return per $1 spent</a:t>
            </a:r>
            <a:endParaRPr lang="en-US" sz="1100" dirty="0"/>
          </a:p>
        </p:txBody>
      </p:sp>
      <p:sp>
        <p:nvSpPr>
          <p:cNvPr id="12" name="Text 9"/>
          <p:cNvSpPr/>
          <p:nvPr/>
        </p:nvSpPr>
        <p:spPr>
          <a:xfrm>
            <a:off x="5806440" y="2331720"/>
            <a:ext cx="2834640" cy="365760"/>
          </a:xfrm>
          <a:prstGeom prst="rect">
            <a:avLst/>
          </a:prstGeom>
          <a:noFill/>
          <a:ln/>
        </p:spPr>
        <p:txBody>
          <a:bodyPr wrap="square" lIns="0" tIns="0" rIns="0" bIns="0"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Smallest budget, highest leverage. Constrained by list size, not spend ceiling.</a:t>
            </a:r>
            <a:endParaRPr lang="en-US" sz="900" dirty="0"/>
          </a:p>
        </p:txBody>
      </p:sp>
      <p:sp>
        <p:nvSpPr>
          <p:cNvPr id="13" name="Shape 10"/>
          <p:cNvSpPr/>
          <p:nvPr/>
        </p:nvSpPr>
        <p:spPr>
          <a:xfrm>
            <a:off x="5577840" y="2971800"/>
            <a:ext cx="320040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1"/>
          <p:cNvSpPr/>
          <p:nvPr/>
        </p:nvSpPr>
        <p:spPr>
          <a:xfrm>
            <a:off x="5577840" y="2971800"/>
            <a:ext cx="54864" cy="1280160"/>
          </a:xfrm>
          <a:prstGeom prst="rect">
            <a:avLst/>
          </a:prstGeom>
          <a:solidFill>
            <a:srgbClr val="EF4444"/>
          </a:solidFill>
          <a:ln/>
        </p:spPr>
      </p:sp>
      <p:sp>
        <p:nvSpPr>
          <p:cNvPr id="15" name="Text 12"/>
          <p:cNvSpPr/>
          <p:nvPr/>
        </p:nvSpPr>
        <p:spPr>
          <a:xfrm>
            <a:off x="5806440" y="3063240"/>
            <a:ext cx="2834640" cy="228600"/>
          </a:xfrm>
          <a:prstGeom prst="rect">
            <a:avLst/>
          </a:prstGeom>
          <a:noFill/>
          <a:ln/>
        </p:spPr>
        <p:txBody>
          <a:bodyPr wrap="square" lIns="0" tIns="0" rIns="0" bIns="0" rtlCol="0" anchor="ctr"/>
          <a:lstStyle/>
          <a:p>
            <a:pPr indent="0" marL="0">
              <a:buNone/>
            </a:pPr>
            <a:r>
              <a:rPr lang="en-US" sz="900" b="1" spc="200" kern="0" dirty="0">
                <a:solidFill>
                  <a:srgbClr val="EF4444"/>
                </a:solidFill>
                <a:latin typeface="Calibri" pitchFamily="34" charset="0"/>
                <a:ea typeface="Calibri" pitchFamily="34" charset="-122"/>
                <a:cs typeface="Calibri" pitchFamily="34" charset="-120"/>
              </a:rPr>
              <a:t>LEAST EFFICIENT</a:t>
            </a:r>
            <a:endParaRPr lang="en-US" sz="900" dirty="0"/>
          </a:p>
        </p:txBody>
      </p:sp>
      <p:sp>
        <p:nvSpPr>
          <p:cNvPr id="16" name="Text 13"/>
          <p:cNvSpPr/>
          <p:nvPr/>
        </p:nvSpPr>
        <p:spPr>
          <a:xfrm>
            <a:off x="5806440" y="3291840"/>
            <a:ext cx="2834640" cy="27432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TV</a:t>
            </a:r>
            <a:endParaRPr lang="en-US" sz="1600" dirty="0"/>
          </a:p>
        </p:txBody>
      </p:sp>
      <p:sp>
        <p:nvSpPr>
          <p:cNvPr id="17" name="Text 14"/>
          <p:cNvSpPr/>
          <p:nvPr/>
        </p:nvSpPr>
        <p:spPr>
          <a:xfrm>
            <a:off x="5806440" y="3566160"/>
            <a:ext cx="2834640" cy="228600"/>
          </a:xfrm>
          <a:prstGeom prst="rect">
            <a:avLst/>
          </a:prstGeom>
          <a:noFill/>
          <a:ln/>
        </p:spPr>
        <p:txBody>
          <a:bodyPr wrap="square" lIns="0" tIns="0" rIns="0" bIns="0" rtlCol="0" anchor="ctr"/>
          <a:lstStyle/>
          <a:p>
            <a:pPr indent="0" marL="0">
              <a:buNone/>
            </a:pPr>
            <a:r>
              <a:rPr lang="en-US" sz="1100" dirty="0">
                <a:solidFill>
                  <a:srgbClr val="EF4444"/>
                </a:solidFill>
                <a:latin typeface="Calibri" pitchFamily="34" charset="0"/>
                <a:ea typeface="Calibri" pitchFamily="34" charset="-122"/>
                <a:cs typeface="Calibri" pitchFamily="34" charset="-120"/>
              </a:rPr>
              <a:t>$0.55 return per $1 spent</a:t>
            </a:r>
            <a:endParaRPr lang="en-US" sz="1100" dirty="0"/>
          </a:p>
        </p:txBody>
      </p:sp>
      <p:sp>
        <p:nvSpPr>
          <p:cNvPr id="18" name="Text 15"/>
          <p:cNvSpPr/>
          <p:nvPr/>
        </p:nvSpPr>
        <p:spPr>
          <a:xfrm>
            <a:off x="5806440" y="3840480"/>
            <a:ext cx="2834640" cy="365760"/>
          </a:xfrm>
          <a:prstGeom prst="rect">
            <a:avLst/>
          </a:prstGeom>
          <a:noFill/>
          <a:ln/>
        </p:spPr>
        <p:txBody>
          <a:bodyPr wrap="square" lIns="0" tIns="0" rIns="0" bIns="0" rtlCol="0" anchor="ctr"/>
          <a:lstStyle/>
          <a:p>
            <a:pPr indent="0" marL="0">
              <a:lnSpc>
                <a:spcPct val="115000"/>
              </a:lnSpc>
              <a:buNone/>
            </a:pPr>
            <a:r>
              <a:rPr lang="en-US" sz="900" dirty="0">
                <a:solidFill>
                  <a:srgbClr val="475569"/>
                </a:solidFill>
                <a:latin typeface="Calibri" pitchFamily="34" charset="0"/>
                <a:ea typeface="Calibri" pitchFamily="34" charset="-122"/>
                <a:cs typeface="Calibri" pitchFamily="34" charset="-120"/>
              </a:rPr>
              <a:t>Commands 44% of budget but delivers the lowest marginal return of all channels.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1463040" cy="292608"/>
          </a:xfrm>
          <a:prstGeom prst="rect">
            <a:avLst>
              <a:gd name="adj" fmla="val 6250"/>
            </a:avLst>
          </a:prstGeom>
          <a:solidFill>
            <a:srgbClr val="0EA5E9"/>
          </a:solidFill>
          <a:ln/>
        </p:spPr>
      </p:sp>
      <p:sp>
        <p:nvSpPr>
          <p:cNvPr id="3" name="Text 1"/>
          <p:cNvSpPr/>
          <p:nvPr/>
        </p:nvSpPr>
        <p:spPr>
          <a:xfrm>
            <a:off x="457200" y="274320"/>
            <a:ext cx="146304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OPTIMIZATION</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8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200" b="1" dirty="0">
                <a:solidFill>
                  <a:srgbClr val="1E293B"/>
                </a:solidFill>
                <a:latin typeface="Calibri" pitchFamily="34" charset="0"/>
                <a:ea typeface="Calibri" pitchFamily="34" charset="-122"/>
                <a:cs typeface="Calibri" pitchFamily="34" charset="-120"/>
              </a:rPr>
              <a:t>Reallocation Could Generate +4% More Revenue — Same Budget</a:t>
            </a:r>
            <a:endParaRPr lang="en-US" sz="2200" dirty="0"/>
          </a:p>
        </p:txBody>
      </p:sp>
      <p:pic>
        <p:nvPicPr>
          <p:cNvPr id="6" name="Image 0" descr="/home/claude/scenario.png">    </p:cNvPr>
          <p:cNvPicPr>
            <a:picLocks noChangeAspect="1"/>
          </p:cNvPicPr>
          <p:nvPr/>
        </p:nvPicPr>
        <p:blipFill>
          <a:blip r:embed="rId1"/>
          <a:stretch>
            <a:fillRect/>
          </a:stretch>
        </p:blipFill>
        <p:spPr>
          <a:xfrm>
            <a:off x="228600" y="1371600"/>
            <a:ext cx="86868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57200" y="274320"/>
            <a:ext cx="2194560" cy="292608"/>
          </a:xfrm>
          <a:prstGeom prst="rect">
            <a:avLst>
              <a:gd name="adj" fmla="val 6250"/>
            </a:avLst>
          </a:prstGeom>
          <a:solidFill>
            <a:srgbClr val="0EA5E9"/>
          </a:solidFill>
          <a:ln/>
        </p:spPr>
      </p:sp>
      <p:sp>
        <p:nvSpPr>
          <p:cNvPr id="3" name="Text 1"/>
          <p:cNvSpPr/>
          <p:nvPr/>
        </p:nvSpPr>
        <p:spPr>
          <a:xfrm>
            <a:off x="457200" y="274320"/>
            <a:ext cx="2194560" cy="292608"/>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RECOMMENDATIONS</a:t>
            </a:r>
            <a:endParaRPr lang="en-US" sz="1000" dirty="0"/>
          </a:p>
        </p:txBody>
      </p:sp>
      <p:sp>
        <p:nvSpPr>
          <p:cNvPr id="4" name="Text 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9 / 10</a:t>
            </a:r>
            <a:endParaRPr lang="en-US" sz="900" dirty="0"/>
          </a:p>
        </p:txBody>
      </p:sp>
      <p:sp>
        <p:nvSpPr>
          <p:cNvPr id="5" name="Text 3"/>
          <p:cNvSpPr/>
          <p:nvPr/>
        </p:nvSpPr>
        <p:spPr>
          <a:xfrm>
            <a:off x="457200" y="731520"/>
            <a:ext cx="8229600" cy="502920"/>
          </a:xfrm>
          <a:prstGeom prst="rect">
            <a:avLst/>
          </a:prstGeom>
          <a:noFill/>
          <a:ln/>
        </p:spPr>
        <p:txBody>
          <a:bodyPr wrap="square" lIns="0" tIns="0" rIns="0" bIns="0" rtlCol="0" anchor="ctr"/>
          <a:lstStyle/>
          <a:p>
            <a:pPr indent="0" marL="0">
              <a:buNone/>
            </a:pPr>
            <a:r>
              <a:rPr lang="en-US" sz="2100" b="1" dirty="0">
                <a:solidFill>
                  <a:srgbClr val="1E293B"/>
                </a:solidFill>
                <a:latin typeface="Calibri" pitchFamily="34" charset="0"/>
                <a:ea typeface="Calibri" pitchFamily="34" charset="-122"/>
                <a:cs typeface="Calibri" pitchFamily="34" charset="-120"/>
              </a:rPr>
              <a:t>Reallocating Budget Could Unlock $635K in Incremental Annual Revenue</a:t>
            </a:r>
            <a:endParaRPr lang="en-US" sz="2100" dirty="0"/>
          </a:p>
        </p:txBody>
      </p:sp>
      <p:sp>
        <p:nvSpPr>
          <p:cNvPr id="6" name="Shape 4"/>
          <p:cNvSpPr/>
          <p:nvPr/>
        </p:nvSpPr>
        <p:spPr>
          <a:xfrm>
            <a:off x="457200" y="1417320"/>
            <a:ext cx="39776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7" name="Shape 5"/>
          <p:cNvSpPr/>
          <p:nvPr/>
        </p:nvSpPr>
        <p:spPr>
          <a:xfrm>
            <a:off x="457200" y="1417320"/>
            <a:ext cx="54864" cy="1600200"/>
          </a:xfrm>
          <a:prstGeom prst="rect">
            <a:avLst/>
          </a:prstGeom>
          <a:solidFill>
            <a:srgbClr val="EF4444"/>
          </a:solidFill>
          <a:ln/>
        </p:spPr>
      </p:sp>
      <p:sp>
        <p:nvSpPr>
          <p:cNvPr id="8" name="Text 6"/>
          <p:cNvSpPr/>
          <p:nvPr/>
        </p:nvSpPr>
        <p:spPr>
          <a:xfrm>
            <a:off x="640080" y="1508760"/>
            <a:ext cx="365760" cy="320040"/>
          </a:xfrm>
          <a:prstGeom prst="rect">
            <a:avLst/>
          </a:prstGeom>
          <a:noFill/>
          <a:ln/>
        </p:spPr>
        <p:txBody>
          <a:bodyPr wrap="square" lIns="0" tIns="0" rIns="0" bIns="0" rtlCol="0" anchor="ctr"/>
          <a:lstStyle/>
          <a:p>
            <a:pPr indent="0" marL="0">
              <a:buNone/>
            </a:pPr>
            <a:r>
              <a:rPr lang="en-US" sz="2000" b="1" dirty="0">
                <a:solidFill>
                  <a:srgbClr val="0EA5E9"/>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1051560" y="1508760"/>
            <a:ext cx="310896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Cut TV from $39K to $28K/week</a:t>
            </a:r>
            <a:endParaRPr lang="en-US" sz="1200" dirty="0"/>
          </a:p>
        </p:txBody>
      </p:sp>
      <p:sp>
        <p:nvSpPr>
          <p:cNvPr id="10" name="Text 8"/>
          <p:cNvSpPr/>
          <p:nvPr/>
        </p:nvSpPr>
        <p:spPr>
          <a:xfrm>
            <a:off x="1051560" y="1828800"/>
            <a:ext cx="2286000" cy="228600"/>
          </a:xfrm>
          <a:prstGeom prst="rect">
            <a:avLst/>
          </a:prstGeom>
          <a:noFill/>
          <a:ln/>
        </p:spPr>
        <p:txBody>
          <a:bodyPr wrap="square" lIns="0" tIns="0" rIns="0" bIns="0" rtlCol="0" anchor="ctr"/>
          <a:lstStyle/>
          <a:p>
            <a:pPr indent="0" marL="0">
              <a:buNone/>
            </a:pPr>
            <a:r>
              <a:rPr lang="en-US" sz="1000" b="1" dirty="0">
                <a:solidFill>
                  <a:srgbClr val="EF4444"/>
                </a:solidFill>
                <a:latin typeface="Calibri" pitchFamily="34" charset="0"/>
                <a:ea typeface="Calibri" pitchFamily="34" charset="-122"/>
                <a:cs typeface="Calibri" pitchFamily="34" charset="-120"/>
              </a:rPr>
              <a:t>−$10.4K/wk redeployed</a:t>
            </a:r>
            <a:endParaRPr lang="en-US" sz="1000" dirty="0"/>
          </a:p>
        </p:txBody>
      </p:sp>
      <p:sp>
        <p:nvSpPr>
          <p:cNvPr id="11" name="Text 9"/>
          <p:cNvSpPr/>
          <p:nvPr/>
        </p:nvSpPr>
        <p:spPr>
          <a:xfrm>
            <a:off x="640080" y="2103120"/>
            <a:ext cx="3566160" cy="822960"/>
          </a:xfrm>
          <a:prstGeom prst="rect">
            <a:avLst/>
          </a:prstGeom>
          <a:noFill/>
          <a:ln/>
        </p:spPr>
        <p:txBody>
          <a:bodyPr wrap="square" lIns="0" tIns="0" rIns="0" bIns="0"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TV consumes 44% of budget at a 0.55x ROI. The model shows it is deep into diminishing returns. Redirect to higher-ROI channels.</a:t>
            </a:r>
            <a:endParaRPr lang="en-US" sz="950" dirty="0"/>
          </a:p>
        </p:txBody>
      </p:sp>
      <p:sp>
        <p:nvSpPr>
          <p:cNvPr id="12" name="Shape 10"/>
          <p:cNvSpPr/>
          <p:nvPr/>
        </p:nvSpPr>
        <p:spPr>
          <a:xfrm>
            <a:off x="4709160" y="1417320"/>
            <a:ext cx="39776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3" name="Shape 11"/>
          <p:cNvSpPr/>
          <p:nvPr/>
        </p:nvSpPr>
        <p:spPr>
          <a:xfrm>
            <a:off x="4709160" y="1417320"/>
            <a:ext cx="54864" cy="1600200"/>
          </a:xfrm>
          <a:prstGeom prst="rect">
            <a:avLst/>
          </a:prstGeom>
          <a:solidFill>
            <a:srgbClr val="0EA5E9"/>
          </a:solidFill>
          <a:ln/>
        </p:spPr>
      </p:sp>
      <p:sp>
        <p:nvSpPr>
          <p:cNvPr id="14" name="Text 12"/>
          <p:cNvSpPr/>
          <p:nvPr/>
        </p:nvSpPr>
        <p:spPr>
          <a:xfrm>
            <a:off x="4892040" y="1508760"/>
            <a:ext cx="365760" cy="320040"/>
          </a:xfrm>
          <a:prstGeom prst="rect">
            <a:avLst/>
          </a:prstGeom>
          <a:noFill/>
          <a:ln/>
        </p:spPr>
        <p:txBody>
          <a:bodyPr wrap="square" lIns="0" tIns="0" rIns="0" bIns="0" rtlCol="0" anchor="ctr"/>
          <a:lstStyle/>
          <a:p>
            <a:pPr indent="0" marL="0">
              <a:buNone/>
            </a:pPr>
            <a:r>
              <a:rPr lang="en-US" sz="2000" b="1" dirty="0">
                <a:solidFill>
                  <a:srgbClr val="0EA5E9"/>
                </a:solidFill>
                <a:latin typeface="Calibri" pitchFamily="34" charset="0"/>
                <a:ea typeface="Calibri" pitchFamily="34" charset="-122"/>
                <a:cs typeface="Calibri" pitchFamily="34" charset="-120"/>
              </a:rPr>
              <a:t>02</a:t>
            </a:r>
            <a:endParaRPr lang="en-US" sz="2000" dirty="0"/>
          </a:p>
        </p:txBody>
      </p:sp>
      <p:sp>
        <p:nvSpPr>
          <p:cNvPr id="15" name="Text 13"/>
          <p:cNvSpPr/>
          <p:nvPr/>
        </p:nvSpPr>
        <p:spPr>
          <a:xfrm>
            <a:off x="5303520" y="1508760"/>
            <a:ext cx="310896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Scale Display from $10K to $16K/week</a:t>
            </a:r>
            <a:endParaRPr lang="en-US" sz="1200" dirty="0"/>
          </a:p>
        </p:txBody>
      </p:sp>
      <p:sp>
        <p:nvSpPr>
          <p:cNvPr id="16" name="Text 14"/>
          <p:cNvSpPr/>
          <p:nvPr/>
        </p:nvSpPr>
        <p:spPr>
          <a:xfrm>
            <a:off x="5303520" y="1828800"/>
            <a:ext cx="2286000" cy="22860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+$5.8K/wk invested</a:t>
            </a:r>
            <a:endParaRPr lang="en-US" sz="1000" dirty="0"/>
          </a:p>
        </p:txBody>
      </p:sp>
      <p:sp>
        <p:nvSpPr>
          <p:cNvPr id="17" name="Text 15"/>
          <p:cNvSpPr/>
          <p:nvPr/>
        </p:nvSpPr>
        <p:spPr>
          <a:xfrm>
            <a:off x="4892040" y="2103120"/>
            <a:ext cx="3566160" cy="822960"/>
          </a:xfrm>
          <a:prstGeom prst="rect">
            <a:avLst/>
          </a:prstGeom>
          <a:noFill/>
          <a:ln/>
        </p:spPr>
        <p:txBody>
          <a:bodyPr wrap="square" lIns="0" tIns="0" rIns="0" bIns="0"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Second-highest ROI at 2.34x and still in the steep part of its response curve. Room to scale before hitting saturation.</a:t>
            </a:r>
            <a:endParaRPr lang="en-US" sz="950" dirty="0"/>
          </a:p>
        </p:txBody>
      </p:sp>
      <p:sp>
        <p:nvSpPr>
          <p:cNvPr id="18" name="Shape 16"/>
          <p:cNvSpPr/>
          <p:nvPr/>
        </p:nvSpPr>
        <p:spPr>
          <a:xfrm>
            <a:off x="457200" y="3200400"/>
            <a:ext cx="39776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9" name="Shape 17"/>
          <p:cNvSpPr/>
          <p:nvPr/>
        </p:nvSpPr>
        <p:spPr>
          <a:xfrm>
            <a:off x="457200" y="3200400"/>
            <a:ext cx="54864" cy="1600200"/>
          </a:xfrm>
          <a:prstGeom prst="rect">
            <a:avLst/>
          </a:prstGeom>
          <a:solidFill>
            <a:srgbClr val="0EA5E9"/>
          </a:solidFill>
          <a:ln/>
        </p:spPr>
      </p:sp>
      <p:sp>
        <p:nvSpPr>
          <p:cNvPr id="20" name="Text 18"/>
          <p:cNvSpPr/>
          <p:nvPr/>
        </p:nvSpPr>
        <p:spPr>
          <a:xfrm>
            <a:off x="640080" y="3291840"/>
            <a:ext cx="365760" cy="320040"/>
          </a:xfrm>
          <a:prstGeom prst="rect">
            <a:avLst/>
          </a:prstGeom>
          <a:noFill/>
          <a:ln/>
        </p:spPr>
        <p:txBody>
          <a:bodyPr wrap="square" lIns="0" tIns="0" rIns="0" bIns="0" rtlCol="0" anchor="ctr"/>
          <a:lstStyle/>
          <a:p>
            <a:pPr indent="0" marL="0">
              <a:buNone/>
            </a:pPr>
            <a:r>
              <a:rPr lang="en-US" sz="2000" b="1" dirty="0">
                <a:solidFill>
                  <a:srgbClr val="0EA5E9"/>
                </a:solidFill>
                <a:latin typeface="Calibri" pitchFamily="34" charset="0"/>
                <a:ea typeface="Calibri" pitchFamily="34" charset="-122"/>
                <a:cs typeface="Calibri" pitchFamily="34" charset="-120"/>
              </a:rPr>
              <a:t>03</a:t>
            </a:r>
            <a:endParaRPr lang="en-US" sz="2000" dirty="0"/>
          </a:p>
        </p:txBody>
      </p:sp>
      <p:sp>
        <p:nvSpPr>
          <p:cNvPr id="21" name="Text 19"/>
          <p:cNvSpPr/>
          <p:nvPr/>
        </p:nvSpPr>
        <p:spPr>
          <a:xfrm>
            <a:off x="1051560" y="3291840"/>
            <a:ext cx="310896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Increase Paid Search to $24K/week</a:t>
            </a:r>
            <a:endParaRPr lang="en-US" sz="1200" dirty="0"/>
          </a:p>
        </p:txBody>
      </p:sp>
      <p:sp>
        <p:nvSpPr>
          <p:cNvPr id="22" name="Text 20"/>
          <p:cNvSpPr/>
          <p:nvPr/>
        </p:nvSpPr>
        <p:spPr>
          <a:xfrm>
            <a:off x="1051560" y="3611880"/>
            <a:ext cx="2286000" cy="22860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+$3.3K/wk invested</a:t>
            </a:r>
            <a:endParaRPr lang="en-US" sz="1000" dirty="0"/>
          </a:p>
        </p:txBody>
      </p:sp>
      <p:sp>
        <p:nvSpPr>
          <p:cNvPr id="23" name="Text 21"/>
          <p:cNvSpPr/>
          <p:nvPr/>
        </p:nvSpPr>
        <p:spPr>
          <a:xfrm>
            <a:off x="640080" y="3886200"/>
            <a:ext cx="3566160" cy="822960"/>
          </a:xfrm>
          <a:prstGeom prst="rect">
            <a:avLst/>
          </a:prstGeom>
          <a:noFill/>
          <a:ln/>
        </p:spPr>
        <p:txBody>
          <a:bodyPr wrap="square" lIns="0" tIns="0" rIns="0" bIns="0"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Moderate 1.15x ROI with solid performance. Response curve shows it can absorb incremental spend efficiently up to ~$28K.</a:t>
            </a:r>
            <a:endParaRPr lang="en-US" sz="950" dirty="0"/>
          </a:p>
        </p:txBody>
      </p:sp>
      <p:sp>
        <p:nvSpPr>
          <p:cNvPr id="24" name="Shape 22"/>
          <p:cNvSpPr/>
          <p:nvPr/>
        </p:nvSpPr>
        <p:spPr>
          <a:xfrm>
            <a:off x="4709160" y="3200400"/>
            <a:ext cx="3977640" cy="160020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25" name="Shape 23"/>
          <p:cNvSpPr/>
          <p:nvPr/>
        </p:nvSpPr>
        <p:spPr>
          <a:xfrm>
            <a:off x="4709160" y="3200400"/>
            <a:ext cx="54864" cy="1600200"/>
          </a:xfrm>
          <a:prstGeom prst="rect">
            <a:avLst/>
          </a:prstGeom>
          <a:solidFill>
            <a:srgbClr val="0EA5E9"/>
          </a:solidFill>
          <a:ln/>
        </p:spPr>
      </p:sp>
      <p:sp>
        <p:nvSpPr>
          <p:cNvPr id="26" name="Text 24"/>
          <p:cNvSpPr/>
          <p:nvPr/>
        </p:nvSpPr>
        <p:spPr>
          <a:xfrm>
            <a:off x="4892040" y="3291840"/>
            <a:ext cx="365760" cy="320040"/>
          </a:xfrm>
          <a:prstGeom prst="rect">
            <a:avLst/>
          </a:prstGeom>
          <a:noFill/>
          <a:ln/>
        </p:spPr>
        <p:txBody>
          <a:bodyPr wrap="square" lIns="0" tIns="0" rIns="0" bIns="0" rtlCol="0" anchor="ctr"/>
          <a:lstStyle/>
          <a:p>
            <a:pPr indent="0" marL="0">
              <a:buNone/>
            </a:pPr>
            <a:r>
              <a:rPr lang="en-US" sz="2000" b="1" dirty="0">
                <a:solidFill>
                  <a:srgbClr val="0EA5E9"/>
                </a:solidFill>
                <a:latin typeface="Calibri" pitchFamily="34" charset="0"/>
                <a:ea typeface="Calibri" pitchFamily="34" charset="-122"/>
                <a:cs typeface="Calibri" pitchFamily="34" charset="-120"/>
              </a:rPr>
              <a:t>04</a:t>
            </a:r>
            <a:endParaRPr lang="en-US" sz="2000" dirty="0"/>
          </a:p>
        </p:txBody>
      </p:sp>
      <p:sp>
        <p:nvSpPr>
          <p:cNvPr id="27" name="Text 25"/>
          <p:cNvSpPr/>
          <p:nvPr/>
        </p:nvSpPr>
        <p:spPr>
          <a:xfrm>
            <a:off x="5303520" y="3291840"/>
            <a:ext cx="3108960" cy="32004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Grow Email from $3K to $5K/week</a:t>
            </a:r>
            <a:endParaRPr lang="en-US" sz="1200" dirty="0"/>
          </a:p>
        </p:txBody>
      </p:sp>
      <p:sp>
        <p:nvSpPr>
          <p:cNvPr id="28" name="Text 26"/>
          <p:cNvSpPr/>
          <p:nvPr/>
        </p:nvSpPr>
        <p:spPr>
          <a:xfrm>
            <a:off x="5303520" y="3611880"/>
            <a:ext cx="2286000" cy="228600"/>
          </a:xfrm>
          <a:prstGeom prst="rect">
            <a:avLst/>
          </a:prstGeom>
          <a:noFill/>
          <a:ln/>
        </p:spPr>
        <p:txBody>
          <a:bodyPr wrap="square" lIns="0" tIns="0" rIns="0" bIns="0" rtlCol="0" anchor="ctr"/>
          <a:lstStyle/>
          <a:p>
            <a:pPr indent="0" marL="0">
              <a:buNone/>
            </a:pPr>
            <a:r>
              <a:rPr lang="en-US" sz="1000" b="1" dirty="0">
                <a:solidFill>
                  <a:srgbClr val="10B981"/>
                </a:solidFill>
                <a:latin typeface="Calibri" pitchFamily="34" charset="0"/>
                <a:ea typeface="Calibri" pitchFamily="34" charset="-122"/>
                <a:cs typeface="Calibri" pitchFamily="34" charset="-120"/>
              </a:rPr>
              <a:t>+$1.5K/wk invested</a:t>
            </a:r>
            <a:endParaRPr lang="en-US" sz="1000" dirty="0"/>
          </a:p>
        </p:txBody>
      </p:sp>
      <p:sp>
        <p:nvSpPr>
          <p:cNvPr id="29" name="Text 27"/>
          <p:cNvSpPr/>
          <p:nvPr/>
        </p:nvSpPr>
        <p:spPr>
          <a:xfrm>
            <a:off x="4892040" y="3886200"/>
            <a:ext cx="3566160" cy="822960"/>
          </a:xfrm>
          <a:prstGeom prst="rect">
            <a:avLst/>
          </a:prstGeom>
          <a:noFill/>
          <a:ln/>
        </p:spPr>
        <p:txBody>
          <a:bodyPr wrap="square" lIns="0" tIns="0" rIns="0" bIns="0" rtlCol="0" anchor="ctr"/>
          <a:lstStyle/>
          <a:p>
            <a:pPr indent="0" marL="0">
              <a:lnSpc>
                <a:spcPct val="120000"/>
              </a:lnSpc>
              <a:buNone/>
            </a:pPr>
            <a:r>
              <a:rPr lang="en-US" sz="950" dirty="0">
                <a:solidFill>
                  <a:srgbClr val="475569"/>
                </a:solidFill>
                <a:latin typeface="Calibri" pitchFamily="34" charset="0"/>
                <a:ea typeface="Calibri" pitchFamily="34" charset="-122"/>
                <a:cs typeface="Calibri" pitchFamily="34" charset="-120"/>
              </a:rPr>
              <a:t>Highest marginal ROI at 7.48x. Constraint is list quality, not budget. Invest in CRM hygiene and list growth to unlock ceiling.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EA5E9"/>
          </a:solidFill>
          <a:ln/>
        </p:spPr>
      </p:sp>
      <p:sp>
        <p:nvSpPr>
          <p:cNvPr id="3" name="Text 1"/>
          <p:cNvSpPr/>
          <p:nvPr/>
        </p:nvSpPr>
        <p:spPr>
          <a:xfrm>
            <a:off x="457200" y="274320"/>
            <a:ext cx="822960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Next Steps</a:t>
            </a:r>
            <a:endParaRPr lang="en-US" sz="2800" dirty="0"/>
          </a:p>
        </p:txBody>
      </p:sp>
      <p:sp>
        <p:nvSpPr>
          <p:cNvPr id="4" name="Text 2"/>
          <p:cNvSpPr/>
          <p:nvPr/>
        </p:nvSpPr>
        <p:spPr>
          <a:xfrm>
            <a:off x="457200" y="731520"/>
            <a:ext cx="8229600" cy="320040"/>
          </a:xfrm>
          <a:prstGeom prst="rect">
            <a:avLst/>
          </a:prstGeom>
          <a:noFill/>
          <a:ln/>
        </p:spPr>
        <p:txBody>
          <a:bodyPr wrap="square" lIns="0" tIns="0" rIns="0" bIns="0" rtlCol="0" anchor="ctr"/>
          <a:lstStyle/>
          <a:p>
            <a:pPr indent="0" marL="0">
              <a:buNone/>
            </a:pPr>
            <a:r>
              <a:rPr lang="en-US" sz="1400" dirty="0">
                <a:solidFill>
                  <a:srgbClr val="0EA5E9"/>
                </a:solidFill>
                <a:latin typeface="Calibri Light" pitchFamily="34" charset="0"/>
                <a:ea typeface="Calibri Light" pitchFamily="34" charset="-122"/>
                <a:cs typeface="Calibri Light" pitchFamily="34" charset="-120"/>
              </a:rPr>
              <a:t>From Model to Impact — a 90-Day Roadmap</a:t>
            </a:r>
            <a:endParaRPr lang="en-US" sz="1400" dirty="0"/>
          </a:p>
        </p:txBody>
      </p:sp>
      <p:sp>
        <p:nvSpPr>
          <p:cNvPr id="5" name="Shape 3"/>
          <p:cNvSpPr/>
          <p:nvPr/>
        </p:nvSpPr>
        <p:spPr>
          <a:xfrm>
            <a:off x="457200" y="1280160"/>
            <a:ext cx="2606040" cy="2926080"/>
          </a:xfrm>
          <a:prstGeom prst="rect">
            <a:avLst/>
          </a:prstGeom>
          <a:solidFill>
            <a:srgbClr val="1A2942"/>
          </a:solidFill>
          <a:ln/>
        </p:spPr>
      </p:sp>
      <p:sp>
        <p:nvSpPr>
          <p:cNvPr id="6" name="Shape 4"/>
          <p:cNvSpPr/>
          <p:nvPr/>
        </p:nvSpPr>
        <p:spPr>
          <a:xfrm>
            <a:off x="457200" y="1280160"/>
            <a:ext cx="2606040" cy="365760"/>
          </a:xfrm>
          <a:prstGeom prst="rect">
            <a:avLst/>
          </a:prstGeom>
          <a:solidFill>
            <a:srgbClr val="0EA5E9"/>
          </a:solidFill>
          <a:ln/>
        </p:spPr>
      </p:sp>
      <p:sp>
        <p:nvSpPr>
          <p:cNvPr id="7" name="Text 5"/>
          <p:cNvSpPr/>
          <p:nvPr/>
        </p:nvSpPr>
        <p:spPr>
          <a:xfrm>
            <a:off x="457200" y="1280160"/>
            <a:ext cx="2606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Days 1–30</a:t>
            </a:r>
            <a:endParaRPr lang="en-US" sz="1100" dirty="0"/>
          </a:p>
        </p:txBody>
      </p:sp>
      <p:sp>
        <p:nvSpPr>
          <p:cNvPr id="8" name="Text 6"/>
          <p:cNvSpPr/>
          <p:nvPr/>
        </p:nvSpPr>
        <p:spPr>
          <a:xfrm>
            <a:off x="640080" y="1783080"/>
            <a:ext cx="22402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Validate with Real Data</a:t>
            </a:r>
            <a:endParaRPr lang="en-US" sz="1300" dirty="0"/>
          </a:p>
        </p:txBody>
      </p:sp>
      <p:sp>
        <p:nvSpPr>
          <p:cNvPr id="9" name="Text 7"/>
          <p:cNvSpPr/>
          <p:nvPr/>
        </p:nvSpPr>
        <p:spPr>
          <a:xfrm>
            <a:off x="640080" y="2240280"/>
            <a:ext cx="2240280" cy="182880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Integrate actual revenue and spend feeds</a:t>
            </a:r>
            <a:endParaRPr lang="en-US" sz="1000" dirty="0"/>
          </a:p>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Re-run model on production data</a:t>
            </a:r>
            <a:endParaRPr lang="en-US" sz="1000" dirty="0"/>
          </a:p>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Audit adstock / saturation parameters with media team</a:t>
            </a:r>
            <a:endParaRPr lang="en-US" sz="1000" dirty="0"/>
          </a:p>
        </p:txBody>
      </p:sp>
      <p:sp>
        <p:nvSpPr>
          <p:cNvPr id="10" name="Shape 8"/>
          <p:cNvSpPr/>
          <p:nvPr/>
        </p:nvSpPr>
        <p:spPr>
          <a:xfrm>
            <a:off x="3337560" y="1280160"/>
            <a:ext cx="2606040" cy="2926080"/>
          </a:xfrm>
          <a:prstGeom prst="rect">
            <a:avLst/>
          </a:prstGeom>
          <a:solidFill>
            <a:srgbClr val="1A2942"/>
          </a:solidFill>
          <a:ln/>
        </p:spPr>
      </p:sp>
      <p:sp>
        <p:nvSpPr>
          <p:cNvPr id="11" name="Shape 9"/>
          <p:cNvSpPr/>
          <p:nvPr/>
        </p:nvSpPr>
        <p:spPr>
          <a:xfrm>
            <a:off x="3337560" y="1280160"/>
            <a:ext cx="2606040" cy="365760"/>
          </a:xfrm>
          <a:prstGeom prst="rect">
            <a:avLst/>
          </a:prstGeom>
          <a:solidFill>
            <a:srgbClr val="0EA5E9"/>
          </a:solidFill>
          <a:ln/>
        </p:spPr>
      </p:sp>
      <p:sp>
        <p:nvSpPr>
          <p:cNvPr id="12" name="Text 10"/>
          <p:cNvSpPr/>
          <p:nvPr/>
        </p:nvSpPr>
        <p:spPr>
          <a:xfrm>
            <a:off x="3337560" y="1280160"/>
            <a:ext cx="2606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Days 31–60</a:t>
            </a:r>
            <a:endParaRPr lang="en-US" sz="1100" dirty="0"/>
          </a:p>
        </p:txBody>
      </p:sp>
      <p:sp>
        <p:nvSpPr>
          <p:cNvPr id="13" name="Text 11"/>
          <p:cNvSpPr/>
          <p:nvPr/>
        </p:nvSpPr>
        <p:spPr>
          <a:xfrm>
            <a:off x="3520440" y="1783080"/>
            <a:ext cx="22402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A/B Test Budget Shift</a:t>
            </a:r>
            <a:endParaRPr lang="en-US" sz="1300" dirty="0"/>
          </a:p>
        </p:txBody>
      </p:sp>
      <p:sp>
        <p:nvSpPr>
          <p:cNvPr id="14" name="Text 12"/>
          <p:cNvSpPr/>
          <p:nvPr/>
        </p:nvSpPr>
        <p:spPr>
          <a:xfrm>
            <a:off x="3520440" y="2240280"/>
            <a:ext cx="2240280" cy="182880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Pilot Display + Email increase in 2 test markets</a:t>
            </a:r>
            <a:endParaRPr lang="en-US" sz="1000" dirty="0"/>
          </a:p>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Reduce TV spend in test cohort by $10K/wk</a:t>
            </a:r>
            <a:endParaRPr lang="en-US" sz="1000" dirty="0"/>
          </a:p>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Measure lift against holdout group</a:t>
            </a:r>
            <a:endParaRPr lang="en-US" sz="1000" dirty="0"/>
          </a:p>
        </p:txBody>
      </p:sp>
      <p:sp>
        <p:nvSpPr>
          <p:cNvPr id="15" name="Shape 13"/>
          <p:cNvSpPr/>
          <p:nvPr/>
        </p:nvSpPr>
        <p:spPr>
          <a:xfrm>
            <a:off x="6217920" y="1280160"/>
            <a:ext cx="2606040" cy="2926080"/>
          </a:xfrm>
          <a:prstGeom prst="rect">
            <a:avLst/>
          </a:prstGeom>
          <a:solidFill>
            <a:srgbClr val="1A2942"/>
          </a:solidFill>
          <a:ln/>
        </p:spPr>
      </p:sp>
      <p:sp>
        <p:nvSpPr>
          <p:cNvPr id="16" name="Shape 14"/>
          <p:cNvSpPr/>
          <p:nvPr/>
        </p:nvSpPr>
        <p:spPr>
          <a:xfrm>
            <a:off x="6217920" y="1280160"/>
            <a:ext cx="2606040" cy="365760"/>
          </a:xfrm>
          <a:prstGeom prst="rect">
            <a:avLst/>
          </a:prstGeom>
          <a:solidFill>
            <a:srgbClr val="0EA5E9"/>
          </a:solidFill>
          <a:ln/>
        </p:spPr>
      </p:sp>
      <p:sp>
        <p:nvSpPr>
          <p:cNvPr id="17" name="Text 15"/>
          <p:cNvSpPr/>
          <p:nvPr/>
        </p:nvSpPr>
        <p:spPr>
          <a:xfrm>
            <a:off x="6217920" y="1280160"/>
            <a:ext cx="2606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Days 61–90</a:t>
            </a:r>
            <a:endParaRPr lang="en-US" sz="1100" dirty="0"/>
          </a:p>
        </p:txBody>
      </p:sp>
      <p:sp>
        <p:nvSpPr>
          <p:cNvPr id="18" name="Text 16"/>
          <p:cNvSpPr/>
          <p:nvPr/>
        </p:nvSpPr>
        <p:spPr>
          <a:xfrm>
            <a:off x="6400800" y="1783080"/>
            <a:ext cx="22402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Build Monitoring Dashboard</a:t>
            </a:r>
            <a:endParaRPr lang="en-US" sz="1300" dirty="0"/>
          </a:p>
        </p:txBody>
      </p:sp>
      <p:sp>
        <p:nvSpPr>
          <p:cNvPr id="19" name="Text 17"/>
          <p:cNvSpPr/>
          <p:nvPr/>
        </p:nvSpPr>
        <p:spPr>
          <a:xfrm>
            <a:off x="6400800" y="2240280"/>
            <a:ext cx="2240280" cy="182880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Weekly ROI tracker per channel</a:t>
            </a:r>
            <a:endParaRPr lang="en-US" sz="1000" dirty="0"/>
          </a:p>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Alert when spend crosses saturation threshold</a:t>
            </a:r>
            <a:endParaRPr lang="en-US" sz="1000" dirty="0"/>
          </a:p>
          <a:p>
            <a:pPr marL="342900" indent="-342900">
              <a:spcAft>
                <a:spcPts val="800"/>
              </a:spcAft>
              <a:buSzPct val="100000"/>
              <a:buChar char="•"/>
            </a:pPr>
            <a:r>
              <a:rPr lang="en-US" sz="1000" dirty="0">
                <a:solidFill>
                  <a:srgbClr val="CBD5E1"/>
                </a:solidFill>
                <a:latin typeface="Calibri" pitchFamily="34" charset="0"/>
                <a:ea typeface="Calibri" pitchFamily="34" charset="-122"/>
                <a:cs typeface="Calibri" pitchFamily="34" charset="-120"/>
              </a:rPr>
              <a:t>Monthly model refresh pipeline</a:t>
            </a:r>
            <a:endParaRPr lang="en-US" sz="1000" dirty="0"/>
          </a:p>
        </p:txBody>
      </p:sp>
      <p:sp>
        <p:nvSpPr>
          <p:cNvPr id="20" name="Shape 18"/>
          <p:cNvSpPr/>
          <p:nvPr/>
        </p:nvSpPr>
        <p:spPr>
          <a:xfrm>
            <a:off x="457200" y="4480560"/>
            <a:ext cx="8229600" cy="0"/>
          </a:xfrm>
          <a:prstGeom prst="line">
            <a:avLst/>
          </a:prstGeom>
          <a:noFill/>
          <a:ln w="6350">
            <a:solidFill>
              <a:srgbClr val="94A3B8"/>
            </a:solidFill>
            <a:prstDash val="dash"/>
          </a:ln>
        </p:spPr>
      </p:sp>
      <p:sp>
        <p:nvSpPr>
          <p:cNvPr id="21" name="Text 19"/>
          <p:cNvSpPr/>
          <p:nvPr/>
        </p:nvSpPr>
        <p:spPr>
          <a:xfrm>
            <a:off x="457200" y="4617720"/>
            <a:ext cx="8229600" cy="32004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Questions?  |  Omar Oudrari  |  oudraroa@dukes.jmu.edu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Mix Model: Data-Driven Budget Optimization</dc:title>
  <dc:subject>PptxGenJS Presentation</dc:subject>
  <dc:creator>Omar Oudrari</dc:creator>
  <cp:lastModifiedBy>Omar Oudrari</cp:lastModifiedBy>
  <cp:revision>1</cp:revision>
  <dcterms:created xsi:type="dcterms:W3CDTF">2026-03-19T22:12:52Z</dcterms:created>
  <dcterms:modified xsi:type="dcterms:W3CDTF">2026-03-19T22:12:52Z</dcterms:modified>
</cp:coreProperties>
</file>